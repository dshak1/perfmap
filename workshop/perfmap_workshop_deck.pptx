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8" r:id="rId3"/>
    <p:sldId id="259" r:id="rId4"/>
    <p:sldId id="260" r:id="rId5"/>
    <p:sldId id="261" r:id="rId6"/>
    <p:sldId id="273" r:id="rId7"/>
    <p:sldId id="263" r:id="rId8"/>
    <p:sldId id="262" r:id="rId9"/>
    <p:sldId id="266" r:id="rId10"/>
    <p:sldId id="278" r:id="rId11"/>
    <p:sldId id="271" r:id="rId12"/>
    <p:sldId id="268" r:id="rId13"/>
    <p:sldId id="269" r:id="rId14"/>
    <p:sldId id="270" r:id="rId15"/>
    <p:sldId id="276" r:id="rId16"/>
    <p:sldId id="272" r:id="rId17"/>
    <p:sldId id="27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56" autoAdjust="0"/>
    <p:restoredTop sz="55168" autoAdjust="0"/>
  </p:normalViewPr>
  <p:slideViewPr>
    <p:cSldViewPr snapToGrid="0" snapToObjects="1">
      <p:cViewPr>
        <p:scale>
          <a:sx n="75" d="100"/>
          <a:sy n="75" d="100"/>
        </p:scale>
        <p:origin x="3208" y="3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8C06C28-23B3-4E10-BAC8-38AABFB0B5AA}"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8C77254C-1EFC-48D3-8FF9-22FDB338F953}">
      <dgm:prSet/>
      <dgm:spPr/>
      <dgm:t>
        <a:bodyPr/>
        <a:lstStyle/>
        <a:p>
          <a:r>
            <a:rPr lang="en-CA"/>
            <a:t>Go beyond your assignments</a:t>
          </a:r>
          <a:endParaRPr lang="en-US"/>
        </a:p>
      </dgm:t>
    </dgm:pt>
    <dgm:pt modelId="{BE546231-FDBF-48F1-AFD8-3B4EF20B3DEB}" type="parTrans" cxnId="{EA12D4B1-00F1-4700-BFD0-87E5EF951107}">
      <dgm:prSet/>
      <dgm:spPr/>
      <dgm:t>
        <a:bodyPr/>
        <a:lstStyle/>
        <a:p>
          <a:endParaRPr lang="en-US"/>
        </a:p>
      </dgm:t>
    </dgm:pt>
    <dgm:pt modelId="{91976893-93C4-416B-B139-EC8BBB28A8AB}" type="sibTrans" cxnId="{EA12D4B1-00F1-4700-BFD0-87E5EF951107}">
      <dgm:prSet/>
      <dgm:spPr/>
      <dgm:t>
        <a:bodyPr/>
        <a:lstStyle/>
        <a:p>
          <a:endParaRPr lang="en-US"/>
        </a:p>
      </dgm:t>
    </dgm:pt>
    <dgm:pt modelId="{303980E9-E530-460E-9333-F0392D185AD9}">
      <dgm:prSet/>
      <dgm:spPr/>
      <dgm:t>
        <a:bodyPr/>
        <a:lstStyle/>
        <a:p>
          <a:r>
            <a:rPr lang="en-US"/>
            <a:t>labs, research groups, startups, and hackathons</a:t>
          </a:r>
        </a:p>
      </dgm:t>
    </dgm:pt>
    <dgm:pt modelId="{56562E27-8F78-453B-838D-D0DDFD13E6B5}" type="parTrans" cxnId="{B9EC5541-F654-41BF-AB63-2F0354A7D2FC}">
      <dgm:prSet/>
      <dgm:spPr/>
      <dgm:t>
        <a:bodyPr/>
        <a:lstStyle/>
        <a:p>
          <a:endParaRPr lang="en-US"/>
        </a:p>
      </dgm:t>
    </dgm:pt>
    <dgm:pt modelId="{0958DD26-712E-40DA-9E7A-3823DEFD363F}" type="sibTrans" cxnId="{B9EC5541-F654-41BF-AB63-2F0354A7D2FC}">
      <dgm:prSet/>
      <dgm:spPr/>
      <dgm:t>
        <a:bodyPr/>
        <a:lstStyle/>
        <a:p>
          <a:endParaRPr lang="en-US"/>
        </a:p>
      </dgm:t>
    </dgm:pt>
    <dgm:pt modelId="{43FC2CF5-D2E0-4CB5-B81F-818091B2CF6B}">
      <dgm:prSet/>
      <dgm:spPr/>
      <dgm:t>
        <a:bodyPr/>
        <a:lstStyle/>
        <a:p>
          <a:r>
            <a:rPr lang="en-CA"/>
            <a:t>observed</a:t>
          </a:r>
          <a:r>
            <a:rPr lang="en-US"/>
            <a:t> pain points you actually felt yourself</a:t>
          </a:r>
        </a:p>
      </dgm:t>
    </dgm:pt>
    <dgm:pt modelId="{CAAACAB2-3321-40B5-B371-191A70A65D9A}" type="parTrans" cxnId="{43D50799-1969-45D5-BE77-FB2E1F9DBC8B}">
      <dgm:prSet/>
      <dgm:spPr/>
      <dgm:t>
        <a:bodyPr/>
        <a:lstStyle/>
        <a:p>
          <a:endParaRPr lang="en-US"/>
        </a:p>
      </dgm:t>
    </dgm:pt>
    <dgm:pt modelId="{81E2AC93-D142-47BA-A90F-7EF53900BB51}" type="sibTrans" cxnId="{43D50799-1969-45D5-BE77-FB2E1F9DBC8B}">
      <dgm:prSet/>
      <dgm:spPr/>
      <dgm:t>
        <a:bodyPr/>
        <a:lstStyle/>
        <a:p>
          <a:endParaRPr lang="en-US"/>
        </a:p>
      </dgm:t>
    </dgm:pt>
    <dgm:pt modelId="{76997DB0-D326-4F2D-9767-0DB3C218F13C}">
      <dgm:prSet/>
      <dgm:spPr/>
      <dgm:t>
        <a:bodyPr/>
        <a:lstStyle/>
        <a:p>
          <a:r>
            <a:rPr lang="en-CA"/>
            <a:t>Niches with constraints</a:t>
          </a:r>
          <a:endParaRPr lang="en-US"/>
        </a:p>
      </dgm:t>
    </dgm:pt>
    <dgm:pt modelId="{3A3E483B-77BE-4541-929B-A0589DAA337A}" type="parTrans" cxnId="{7D5CBA89-0E76-4E5A-AA70-2587951B375E}">
      <dgm:prSet/>
      <dgm:spPr/>
      <dgm:t>
        <a:bodyPr/>
        <a:lstStyle/>
        <a:p>
          <a:endParaRPr lang="en-US"/>
        </a:p>
      </dgm:t>
    </dgm:pt>
    <dgm:pt modelId="{89B0537A-BB60-45D5-BAEA-84B162C35B89}" type="sibTrans" cxnId="{7D5CBA89-0E76-4E5A-AA70-2587951B375E}">
      <dgm:prSet/>
      <dgm:spPr/>
      <dgm:t>
        <a:bodyPr/>
        <a:lstStyle/>
        <a:p>
          <a:endParaRPr lang="en-US"/>
        </a:p>
      </dgm:t>
    </dgm:pt>
    <dgm:pt modelId="{00F7455D-EEBA-4FD4-8D1F-48A720414E4F}">
      <dgm:prSet/>
      <dgm:spPr/>
      <dgm:t>
        <a:bodyPr/>
        <a:lstStyle/>
        <a:p>
          <a:r>
            <a:rPr lang="en-CA" dirty="0"/>
            <a:t>Iteration</a:t>
          </a:r>
          <a:endParaRPr lang="en-US" dirty="0"/>
        </a:p>
      </dgm:t>
    </dgm:pt>
    <dgm:pt modelId="{A2C62AB6-D362-4AB3-B7C7-E95786D251DA}" type="parTrans" cxnId="{DB086566-AF14-470C-AEDB-F284C3DECB53}">
      <dgm:prSet/>
      <dgm:spPr/>
      <dgm:t>
        <a:bodyPr/>
        <a:lstStyle/>
        <a:p>
          <a:endParaRPr lang="en-US"/>
        </a:p>
      </dgm:t>
    </dgm:pt>
    <dgm:pt modelId="{809CB4A1-5C84-42DC-8044-3186B1EE3E45}" type="sibTrans" cxnId="{DB086566-AF14-470C-AEDB-F284C3DECB53}">
      <dgm:prSet/>
      <dgm:spPr/>
      <dgm:t>
        <a:bodyPr/>
        <a:lstStyle/>
        <a:p>
          <a:endParaRPr lang="en-US"/>
        </a:p>
      </dgm:t>
    </dgm:pt>
    <dgm:pt modelId="{C8F4C35C-F08C-F342-8FE7-48908F08D97C}" type="pres">
      <dgm:prSet presAssocID="{88C06C28-23B3-4E10-BAC8-38AABFB0B5AA}" presName="diagram" presStyleCnt="0">
        <dgm:presLayoutVars>
          <dgm:dir/>
          <dgm:resizeHandles val="exact"/>
        </dgm:presLayoutVars>
      </dgm:prSet>
      <dgm:spPr/>
    </dgm:pt>
    <dgm:pt modelId="{35C0C82F-4C3F-E44B-A6AC-2706558F6788}" type="pres">
      <dgm:prSet presAssocID="{8C77254C-1EFC-48D3-8FF9-22FDB338F953}" presName="node" presStyleLbl="node1" presStyleIdx="0" presStyleCnt="5">
        <dgm:presLayoutVars>
          <dgm:bulletEnabled val="1"/>
        </dgm:presLayoutVars>
      </dgm:prSet>
      <dgm:spPr/>
    </dgm:pt>
    <dgm:pt modelId="{2E98D242-F149-1A42-B258-48E9B4BAFB20}" type="pres">
      <dgm:prSet presAssocID="{91976893-93C4-416B-B139-EC8BBB28A8AB}" presName="sibTrans" presStyleCnt="0"/>
      <dgm:spPr/>
    </dgm:pt>
    <dgm:pt modelId="{173AABE5-C9F8-AF42-8011-4891E7F7D9EF}" type="pres">
      <dgm:prSet presAssocID="{303980E9-E530-460E-9333-F0392D185AD9}" presName="node" presStyleLbl="node1" presStyleIdx="1" presStyleCnt="5">
        <dgm:presLayoutVars>
          <dgm:bulletEnabled val="1"/>
        </dgm:presLayoutVars>
      </dgm:prSet>
      <dgm:spPr/>
    </dgm:pt>
    <dgm:pt modelId="{583AE1D5-1953-E14D-955F-F2F3A7F687E2}" type="pres">
      <dgm:prSet presAssocID="{0958DD26-712E-40DA-9E7A-3823DEFD363F}" presName="sibTrans" presStyleCnt="0"/>
      <dgm:spPr/>
    </dgm:pt>
    <dgm:pt modelId="{7042133C-C025-0444-87DB-D34FB705E0CB}" type="pres">
      <dgm:prSet presAssocID="{43FC2CF5-D2E0-4CB5-B81F-818091B2CF6B}" presName="node" presStyleLbl="node1" presStyleIdx="2" presStyleCnt="5">
        <dgm:presLayoutVars>
          <dgm:bulletEnabled val="1"/>
        </dgm:presLayoutVars>
      </dgm:prSet>
      <dgm:spPr/>
    </dgm:pt>
    <dgm:pt modelId="{284AD117-0424-BC47-A543-059C50C1E145}" type="pres">
      <dgm:prSet presAssocID="{81E2AC93-D142-47BA-A90F-7EF53900BB51}" presName="sibTrans" presStyleCnt="0"/>
      <dgm:spPr/>
    </dgm:pt>
    <dgm:pt modelId="{D46EB125-B07B-0348-B1BB-2E774197B3DA}" type="pres">
      <dgm:prSet presAssocID="{76997DB0-D326-4F2D-9767-0DB3C218F13C}" presName="node" presStyleLbl="node1" presStyleIdx="3" presStyleCnt="5">
        <dgm:presLayoutVars>
          <dgm:bulletEnabled val="1"/>
        </dgm:presLayoutVars>
      </dgm:prSet>
      <dgm:spPr/>
    </dgm:pt>
    <dgm:pt modelId="{9016B8DD-FCCB-534B-9694-33DD73D02A43}" type="pres">
      <dgm:prSet presAssocID="{89B0537A-BB60-45D5-BAEA-84B162C35B89}" presName="sibTrans" presStyleCnt="0"/>
      <dgm:spPr/>
    </dgm:pt>
    <dgm:pt modelId="{A19DEB68-61D9-1F42-B08B-21B24F00D4C2}" type="pres">
      <dgm:prSet presAssocID="{00F7455D-EEBA-4FD4-8D1F-48A720414E4F}" presName="node" presStyleLbl="node1" presStyleIdx="4" presStyleCnt="5">
        <dgm:presLayoutVars>
          <dgm:bulletEnabled val="1"/>
        </dgm:presLayoutVars>
      </dgm:prSet>
      <dgm:spPr/>
    </dgm:pt>
  </dgm:ptLst>
  <dgm:cxnLst>
    <dgm:cxn modelId="{342C0016-53C2-5148-BAAB-0FC407A1F227}" type="presOf" srcId="{76997DB0-D326-4F2D-9767-0DB3C218F13C}" destId="{D46EB125-B07B-0348-B1BB-2E774197B3DA}" srcOrd="0" destOrd="0" presId="urn:microsoft.com/office/officeart/2005/8/layout/default"/>
    <dgm:cxn modelId="{B9EC5541-F654-41BF-AB63-2F0354A7D2FC}" srcId="{88C06C28-23B3-4E10-BAC8-38AABFB0B5AA}" destId="{303980E9-E530-460E-9333-F0392D185AD9}" srcOrd="1" destOrd="0" parTransId="{56562E27-8F78-453B-838D-D0DDFD13E6B5}" sibTransId="{0958DD26-712E-40DA-9E7A-3823DEFD363F}"/>
    <dgm:cxn modelId="{DB086566-AF14-470C-AEDB-F284C3DECB53}" srcId="{88C06C28-23B3-4E10-BAC8-38AABFB0B5AA}" destId="{00F7455D-EEBA-4FD4-8D1F-48A720414E4F}" srcOrd="4" destOrd="0" parTransId="{A2C62AB6-D362-4AB3-B7C7-E95786D251DA}" sibTransId="{809CB4A1-5C84-42DC-8044-3186B1EE3E45}"/>
    <dgm:cxn modelId="{B9B62887-D9AB-C64A-B7DE-DF2BA720BB75}" type="presOf" srcId="{303980E9-E530-460E-9333-F0392D185AD9}" destId="{173AABE5-C9F8-AF42-8011-4891E7F7D9EF}" srcOrd="0" destOrd="0" presId="urn:microsoft.com/office/officeart/2005/8/layout/default"/>
    <dgm:cxn modelId="{7D5CBA89-0E76-4E5A-AA70-2587951B375E}" srcId="{88C06C28-23B3-4E10-BAC8-38AABFB0B5AA}" destId="{76997DB0-D326-4F2D-9767-0DB3C218F13C}" srcOrd="3" destOrd="0" parTransId="{3A3E483B-77BE-4541-929B-A0589DAA337A}" sibTransId="{89B0537A-BB60-45D5-BAEA-84B162C35B89}"/>
    <dgm:cxn modelId="{43D50799-1969-45D5-BE77-FB2E1F9DBC8B}" srcId="{88C06C28-23B3-4E10-BAC8-38AABFB0B5AA}" destId="{43FC2CF5-D2E0-4CB5-B81F-818091B2CF6B}" srcOrd="2" destOrd="0" parTransId="{CAAACAB2-3321-40B5-B371-191A70A65D9A}" sibTransId="{81E2AC93-D142-47BA-A90F-7EF53900BB51}"/>
    <dgm:cxn modelId="{EA12D4B1-00F1-4700-BFD0-87E5EF951107}" srcId="{88C06C28-23B3-4E10-BAC8-38AABFB0B5AA}" destId="{8C77254C-1EFC-48D3-8FF9-22FDB338F953}" srcOrd="0" destOrd="0" parTransId="{BE546231-FDBF-48F1-AFD8-3B4EF20B3DEB}" sibTransId="{91976893-93C4-416B-B139-EC8BBB28A8AB}"/>
    <dgm:cxn modelId="{F4B0CBB4-FC3B-6D4A-8AE0-327DDC1AE584}" type="presOf" srcId="{00F7455D-EEBA-4FD4-8D1F-48A720414E4F}" destId="{A19DEB68-61D9-1F42-B08B-21B24F00D4C2}" srcOrd="0" destOrd="0" presId="urn:microsoft.com/office/officeart/2005/8/layout/default"/>
    <dgm:cxn modelId="{364290BE-895E-0E41-8D68-DFD18527014A}" type="presOf" srcId="{88C06C28-23B3-4E10-BAC8-38AABFB0B5AA}" destId="{C8F4C35C-F08C-F342-8FE7-48908F08D97C}" srcOrd="0" destOrd="0" presId="urn:microsoft.com/office/officeart/2005/8/layout/default"/>
    <dgm:cxn modelId="{72B336D7-901E-5647-B903-4B27F7848A5C}" type="presOf" srcId="{43FC2CF5-D2E0-4CB5-B81F-818091B2CF6B}" destId="{7042133C-C025-0444-87DB-D34FB705E0CB}" srcOrd="0" destOrd="0" presId="urn:microsoft.com/office/officeart/2005/8/layout/default"/>
    <dgm:cxn modelId="{3A2C1BEA-E0B9-9E4F-A30C-95044ED28094}" type="presOf" srcId="{8C77254C-1EFC-48D3-8FF9-22FDB338F953}" destId="{35C0C82F-4C3F-E44B-A6AC-2706558F6788}" srcOrd="0" destOrd="0" presId="urn:microsoft.com/office/officeart/2005/8/layout/default"/>
    <dgm:cxn modelId="{1736C2EA-6EA5-ED4B-9117-591F13B963A9}" type="presParOf" srcId="{C8F4C35C-F08C-F342-8FE7-48908F08D97C}" destId="{35C0C82F-4C3F-E44B-A6AC-2706558F6788}" srcOrd="0" destOrd="0" presId="urn:microsoft.com/office/officeart/2005/8/layout/default"/>
    <dgm:cxn modelId="{A1C2A6D5-3320-924E-A784-40389BFEBD00}" type="presParOf" srcId="{C8F4C35C-F08C-F342-8FE7-48908F08D97C}" destId="{2E98D242-F149-1A42-B258-48E9B4BAFB20}" srcOrd="1" destOrd="0" presId="urn:microsoft.com/office/officeart/2005/8/layout/default"/>
    <dgm:cxn modelId="{E9924E0C-983E-6643-9F31-54A6884B1AFF}" type="presParOf" srcId="{C8F4C35C-F08C-F342-8FE7-48908F08D97C}" destId="{173AABE5-C9F8-AF42-8011-4891E7F7D9EF}" srcOrd="2" destOrd="0" presId="urn:microsoft.com/office/officeart/2005/8/layout/default"/>
    <dgm:cxn modelId="{260AE592-0FA2-8345-BE2C-545F40C87565}" type="presParOf" srcId="{C8F4C35C-F08C-F342-8FE7-48908F08D97C}" destId="{583AE1D5-1953-E14D-955F-F2F3A7F687E2}" srcOrd="3" destOrd="0" presId="urn:microsoft.com/office/officeart/2005/8/layout/default"/>
    <dgm:cxn modelId="{24CB9BE8-2391-A248-A840-67CD77D8C835}" type="presParOf" srcId="{C8F4C35C-F08C-F342-8FE7-48908F08D97C}" destId="{7042133C-C025-0444-87DB-D34FB705E0CB}" srcOrd="4" destOrd="0" presId="urn:microsoft.com/office/officeart/2005/8/layout/default"/>
    <dgm:cxn modelId="{530C2905-0EB9-1649-AB34-A8D0307D2A76}" type="presParOf" srcId="{C8F4C35C-F08C-F342-8FE7-48908F08D97C}" destId="{284AD117-0424-BC47-A543-059C50C1E145}" srcOrd="5" destOrd="0" presId="urn:microsoft.com/office/officeart/2005/8/layout/default"/>
    <dgm:cxn modelId="{C96B963C-276D-4046-988A-E567EA4EAEAB}" type="presParOf" srcId="{C8F4C35C-F08C-F342-8FE7-48908F08D97C}" destId="{D46EB125-B07B-0348-B1BB-2E774197B3DA}" srcOrd="6" destOrd="0" presId="urn:microsoft.com/office/officeart/2005/8/layout/default"/>
    <dgm:cxn modelId="{01467F6D-9D34-B544-9F75-4C6111062BF9}" type="presParOf" srcId="{C8F4C35C-F08C-F342-8FE7-48908F08D97C}" destId="{9016B8DD-FCCB-534B-9694-33DD73D02A43}" srcOrd="7" destOrd="0" presId="urn:microsoft.com/office/officeart/2005/8/layout/default"/>
    <dgm:cxn modelId="{2855028A-A658-AC44-BBE2-F9F23FF2F8CE}" type="presParOf" srcId="{C8F4C35C-F08C-F342-8FE7-48908F08D97C}" destId="{A19DEB68-61D9-1F42-B08B-21B24F00D4C2}"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C0C82F-4C3F-E44B-A6AC-2706558F6788}">
      <dsp:nvSpPr>
        <dsp:cNvPr id="0" name=""/>
        <dsp:cNvSpPr/>
      </dsp:nvSpPr>
      <dsp:spPr>
        <a:xfrm>
          <a:off x="0" y="431616"/>
          <a:ext cx="2561209" cy="1536725"/>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CA" sz="2400" kern="1200"/>
            <a:t>Go beyond your assignments</a:t>
          </a:r>
          <a:endParaRPr lang="en-US" sz="2400" kern="1200"/>
        </a:p>
      </dsp:txBody>
      <dsp:txXfrm>
        <a:off x="0" y="431616"/>
        <a:ext cx="2561209" cy="1536725"/>
      </dsp:txXfrm>
    </dsp:sp>
    <dsp:sp modelId="{173AABE5-C9F8-AF42-8011-4891E7F7D9EF}">
      <dsp:nvSpPr>
        <dsp:cNvPr id="0" name=""/>
        <dsp:cNvSpPr/>
      </dsp:nvSpPr>
      <dsp:spPr>
        <a:xfrm>
          <a:off x="2817330" y="431616"/>
          <a:ext cx="2561209" cy="1536725"/>
        </a:xfrm>
        <a:prstGeom prst="rect">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labs, research groups, startups, and hackathons</a:t>
          </a:r>
        </a:p>
      </dsp:txBody>
      <dsp:txXfrm>
        <a:off x="2817330" y="431616"/>
        <a:ext cx="2561209" cy="1536725"/>
      </dsp:txXfrm>
    </dsp:sp>
    <dsp:sp modelId="{7042133C-C025-0444-87DB-D34FB705E0CB}">
      <dsp:nvSpPr>
        <dsp:cNvPr id="0" name=""/>
        <dsp:cNvSpPr/>
      </dsp:nvSpPr>
      <dsp:spPr>
        <a:xfrm>
          <a:off x="5634661" y="431616"/>
          <a:ext cx="2561209" cy="1536725"/>
        </a:xfrm>
        <a:prstGeom prst="rect">
          <a:avLst/>
        </a:prstGeom>
        <a:solidFill>
          <a:schemeClr val="accent2">
            <a:hueOff val="2340760"/>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CA" sz="2400" kern="1200"/>
            <a:t>observed</a:t>
          </a:r>
          <a:r>
            <a:rPr lang="en-US" sz="2400" kern="1200"/>
            <a:t> pain points you actually felt yourself</a:t>
          </a:r>
        </a:p>
      </dsp:txBody>
      <dsp:txXfrm>
        <a:off x="5634661" y="431616"/>
        <a:ext cx="2561209" cy="1536725"/>
      </dsp:txXfrm>
    </dsp:sp>
    <dsp:sp modelId="{D46EB125-B07B-0348-B1BB-2E774197B3DA}">
      <dsp:nvSpPr>
        <dsp:cNvPr id="0" name=""/>
        <dsp:cNvSpPr/>
      </dsp:nvSpPr>
      <dsp:spPr>
        <a:xfrm>
          <a:off x="1408665" y="2224462"/>
          <a:ext cx="2561209" cy="1536725"/>
        </a:xfrm>
        <a:prstGeom prst="rect">
          <a:avLst/>
        </a:prstGeom>
        <a:solidFill>
          <a:schemeClr val="accent2">
            <a:hueOff val="3511140"/>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CA" sz="2400" kern="1200"/>
            <a:t>Niches with constraints</a:t>
          </a:r>
          <a:endParaRPr lang="en-US" sz="2400" kern="1200"/>
        </a:p>
      </dsp:txBody>
      <dsp:txXfrm>
        <a:off x="1408665" y="2224462"/>
        <a:ext cx="2561209" cy="1536725"/>
      </dsp:txXfrm>
    </dsp:sp>
    <dsp:sp modelId="{A19DEB68-61D9-1F42-B08B-21B24F00D4C2}">
      <dsp:nvSpPr>
        <dsp:cNvPr id="0" name=""/>
        <dsp:cNvSpPr/>
      </dsp:nvSpPr>
      <dsp:spPr>
        <a:xfrm>
          <a:off x="4225995" y="2224462"/>
          <a:ext cx="2561209" cy="1536725"/>
        </a:xfrm>
        <a:prstGeom prst="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CA" sz="2400" kern="1200" dirty="0"/>
            <a:t>Iteration</a:t>
          </a:r>
          <a:endParaRPr lang="en-US" sz="2400" kern="1200" dirty="0"/>
        </a:p>
      </dsp:txBody>
      <dsp:txXfrm>
        <a:off x="4225995" y="2224462"/>
        <a:ext cx="2561209" cy="1536725"/>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3/31/26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a:r>
            <a:r>
              <a:rPr lang="en-CA" sz="1200" b="0" i="0" kern="1200" dirty="0">
                <a:solidFill>
                  <a:schemeClr val="tx1"/>
                </a:solidFill>
                <a:effectLst/>
                <a:latin typeface="+mn-lt"/>
                <a:ea typeface="+mn-ea"/>
                <a:cs typeface="+mn-cs"/>
              </a:rPr>
              <a:t>is workshop is centred on `</a:t>
            </a:r>
            <a:r>
              <a:rPr lang="en-CA" sz="1200" b="0" i="0" kern="1200" dirty="0" err="1">
                <a:solidFill>
                  <a:schemeClr val="tx1"/>
                </a:solidFill>
                <a:effectLst/>
                <a:latin typeface="+mn-lt"/>
                <a:ea typeface="+mn-ea"/>
                <a:cs typeface="+mn-cs"/>
              </a:rPr>
              <a:t>perfmap</a:t>
            </a:r>
            <a:r>
              <a:rPr lang="en-CA" sz="1200" b="0" i="0" kern="1200" dirty="0">
                <a:solidFill>
                  <a:schemeClr val="tx1"/>
                </a:solidFill>
                <a:effectLst/>
                <a:latin typeface="+mn-lt"/>
                <a:ea typeface="+mn-ea"/>
                <a:cs typeface="+mn-cs"/>
              </a:rPr>
              <a:t>`, a custom hash map project. The goal is not just to build something that compiles. The goal is to build something measurable.</a:t>
            </a:r>
          </a:p>
          <a:p>
            <a:r>
              <a:rPr lang="en-CA" sz="1200" b="0" i="0" kern="1200" dirty="0">
                <a:solidFill>
                  <a:schemeClr val="tx1"/>
                </a:solidFill>
                <a:effectLst/>
                <a:latin typeface="+mn-lt"/>
                <a:ea typeface="+mn-ea"/>
                <a:cs typeface="+mn-cs"/>
              </a:rPr>
              <a:t>Set the tone immediately. This session is about building a small system</a:t>
            </a:r>
          </a:p>
          <a:p>
            <a:r>
              <a:rPr lang="en-CA" sz="1200" b="0" i="0" kern="1200" dirty="0">
                <a:solidFill>
                  <a:schemeClr val="tx1"/>
                </a:solidFill>
                <a:effectLst/>
                <a:latin typeface="+mn-lt"/>
                <a:ea typeface="+mn-ea"/>
                <a:cs typeface="+mn-cs"/>
              </a:rPr>
              <a:t>A project that becomes impressive because it is measurable and explainable,</a:t>
            </a:r>
          </a:p>
          <a:p>
            <a:r>
              <a:rPr lang="en-CA" sz="1200" b="0" i="0" kern="1200" dirty="0">
                <a:solidFill>
                  <a:schemeClr val="tx1"/>
                </a:solidFill>
                <a:effectLst/>
                <a:latin typeface="+mn-lt"/>
                <a:ea typeface="+mn-ea"/>
                <a:cs typeface="+mn-cs"/>
              </a:rPr>
              <a:t>not because it has a huge feature list.</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a:t>
            </a:fld>
            <a:endParaRPr lang="en-US"/>
          </a:p>
        </p:txBody>
      </p:sp>
    </p:spTree>
    <p:extLst>
      <p:ext uri="{BB962C8B-B14F-4D97-AF65-F5344CB8AC3E}">
        <p14:creationId xmlns:p14="http://schemas.microsoft.com/office/powerpoint/2010/main" val="459934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is your first candy slide. Ask for hands, then cold-call one or two short answers. If someone says “real users,” “benchmarks,” “trade-offs,” or “depth,” reward that immediately because it sets up the rest of the talk.</a:t>
            </a:r>
            <a:endParaRPr lang="en-CA" dirty="0"/>
          </a:p>
          <a:p>
            <a:pPr lvl="0"/>
            <a:r>
              <a:rPr lang="en-CA" dirty="0"/>
              <a:t>Who here has coded in </a:t>
            </a:r>
            <a:r>
              <a:rPr lang="en-CA" dirty="0">
                <a:latin typeface="Courier"/>
              </a:rPr>
              <a:t>C++</a:t>
            </a:r>
            <a:r>
              <a:rPr lang="en-CA" dirty="0"/>
              <a:t>?</a:t>
            </a:r>
          </a:p>
          <a:p>
            <a:pPr lvl="0"/>
            <a:r>
              <a:rPr lang="en-CA" dirty="0"/>
              <a:t>Who knows what a HashMap is? Brave volunteer to define a </a:t>
            </a:r>
            <a:r>
              <a:rPr lang="en-CA" dirty="0" err="1"/>
              <a:t>hashmap</a:t>
            </a:r>
            <a:r>
              <a:rPr lang="en-CA" dirty="0"/>
              <a:t>?</a:t>
            </a:r>
            <a:br>
              <a:rPr lang="en-CA" dirty="0"/>
            </a:br>
            <a:r>
              <a:rPr lang="en-CA" dirty="0"/>
              <a:t>What makes a project feel impressive in 2026?</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1" kern="1200" dirty="0">
                <a:solidFill>
                  <a:schemeClr val="tx1"/>
                </a:solidFill>
                <a:effectLst/>
                <a:latin typeface="+mn-lt"/>
                <a:ea typeface="+mn-ea"/>
                <a:cs typeface="+mn-cs"/>
              </a:rPr>
              <a:t>What Makes A Project Stand Out In 2026</a:t>
            </a:r>
            <a:endParaRPr lang="en-CA" sz="1200" b="0" kern="1200" dirty="0">
              <a:solidFill>
                <a:schemeClr val="tx1"/>
              </a:solidFill>
              <a:effectLst/>
              <a:latin typeface="+mn-lt"/>
              <a:ea typeface="+mn-ea"/>
              <a:cs typeface="+mn-cs"/>
            </a:endParaRPr>
          </a:p>
          <a:p>
            <a:br>
              <a:rPr lang="en-CA" sz="1200" b="0" kern="1200" dirty="0">
                <a:solidFill>
                  <a:schemeClr val="tx1"/>
                </a:solidFill>
                <a:effectLst/>
                <a:latin typeface="+mn-lt"/>
                <a:ea typeface="+mn-ea"/>
                <a:cs typeface="+mn-cs"/>
              </a:rPr>
            </a:br>
            <a:endParaRPr lang="en-CA" sz="1200" b="0" kern="1200" dirty="0">
              <a:solidFill>
                <a:schemeClr val="tx1"/>
              </a:solidFill>
              <a:effectLst/>
              <a:latin typeface="+mn-lt"/>
              <a:ea typeface="+mn-ea"/>
              <a:cs typeface="+mn-cs"/>
            </a:endParaRPr>
          </a:p>
          <a:p>
            <a:r>
              <a:rPr lang="en-CA" sz="1200" b="0" kern="1200" dirty="0">
                <a:solidFill>
                  <a:schemeClr val="tx1"/>
                </a:solidFill>
                <a:effectLst/>
                <a:latin typeface="+mn-lt"/>
                <a:ea typeface="+mn-ea"/>
                <a:cs typeface="+mn-cs"/>
              </a:rPr>
              <a:t>- It solves a real problem or models a believable workload</a:t>
            </a:r>
          </a:p>
          <a:p>
            <a:r>
              <a:rPr lang="en-CA" sz="1200" b="0" kern="1200" dirty="0">
                <a:solidFill>
                  <a:schemeClr val="tx1"/>
                </a:solidFill>
                <a:effectLst/>
                <a:latin typeface="+mn-lt"/>
                <a:ea typeface="+mn-ea"/>
                <a:cs typeface="+mn-cs"/>
              </a:rPr>
              <a:t>- It shows iteration, not just one lucky final result</a:t>
            </a:r>
          </a:p>
          <a:p>
            <a:r>
              <a:rPr lang="en-CA" sz="1200" b="0" kern="1200" dirty="0">
                <a:solidFill>
                  <a:schemeClr val="tx1"/>
                </a:solidFill>
                <a:effectLst/>
                <a:latin typeface="+mn-lt"/>
                <a:ea typeface="+mn-ea"/>
                <a:cs typeface="+mn-cs"/>
              </a:rPr>
              <a:t>- It has measurable evidence</a:t>
            </a:r>
          </a:p>
          <a:p>
            <a:r>
              <a:rPr lang="en-CA" sz="1200" b="0" kern="1200" dirty="0">
                <a:solidFill>
                  <a:schemeClr val="tx1"/>
                </a:solidFill>
                <a:effectLst/>
                <a:latin typeface="+mn-lt"/>
                <a:ea typeface="+mn-ea"/>
                <a:cs typeface="+mn-cs"/>
              </a:rPr>
              <a:t>- It uses AI intentionally, not invisibly</a:t>
            </a:r>
          </a:p>
          <a:p>
            <a:r>
              <a:rPr lang="en-CA" sz="1200" b="0" kern="1200" dirty="0">
                <a:solidFill>
                  <a:schemeClr val="tx1"/>
                </a:solidFill>
                <a:effectLst/>
                <a:latin typeface="+mn-lt"/>
                <a:ea typeface="+mn-ea"/>
                <a:cs typeface="+mn-cs"/>
              </a:rPr>
              <a:t>- It is specific enough that you can explain the hard parts</a:t>
            </a:r>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“Today, code generation is cheap. Taste, judgment, and proof are expensive.” </a:t>
            </a:r>
          </a:p>
          <a:p>
            <a:r>
              <a:rPr lang="en-CA" dirty="0"/>
              <a:t>“A project is strong when it survives hard questions.” </a:t>
            </a:r>
          </a:p>
          <a:p>
            <a:r>
              <a:rPr lang="en-CA" dirty="0"/>
              <a:t>“Anybody can add features. Not everybody can defend trade-offs.” </a:t>
            </a:r>
          </a:p>
          <a:p>
            <a:r>
              <a:rPr lang="en-CA" dirty="0"/>
              <a:t>“The best student projects usually feel narrower, sharper, and more honest.” </a:t>
            </a:r>
          </a:p>
          <a:p>
            <a:pPr marL="0" lvl="0" indent="0">
              <a:buNone/>
            </a:pPr>
            <a:endParaRPr lang="en-CA" dirty="0"/>
          </a:p>
          <a:p>
            <a:pPr marL="0" lvl="0" indent="0">
              <a:buNone/>
            </a:pPr>
            <a:r>
              <a:rPr lang="en-CA" dirty="0"/>
              <a:t>For example usually some cliché ones are study apps, flashcards, dashboard, basic expense tracker,</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CA" dirty="0"/>
              <a:t>coursework where you go beyond the assignment</a:t>
            </a:r>
          </a:p>
          <a:p>
            <a:pPr lvl="1"/>
            <a:r>
              <a:rPr lang="en-CA" dirty="0"/>
              <a:t>labs, research groups, startups, and hackathons</a:t>
            </a:r>
          </a:p>
          <a:p>
            <a:pPr lvl="1"/>
            <a:r>
              <a:rPr lang="en-CA" dirty="0"/>
              <a:t>observed pain points you actually felt yourself</a:t>
            </a:r>
          </a:p>
          <a:p>
            <a:pPr lvl="1"/>
            <a:r>
              <a:rPr lang="en-CA" dirty="0"/>
              <a:t>niches with real constraints: latency, memory, scale, correctness</a:t>
            </a:r>
          </a:p>
          <a:p>
            <a:pPr lvl="1"/>
            <a:r>
              <a:rPr lang="en-CA" dirty="0"/>
              <a:t>Follow-on iterations after a first version already works</a:t>
            </a:r>
          </a:p>
          <a:p>
            <a:pPr lvl="1"/>
            <a:endParaRPr lang="en-CA" dirty="0"/>
          </a:p>
          <a:p>
            <a:pPr lvl="1"/>
            <a:endParaRPr lang="en-CA" dirty="0"/>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Tell them you are giving them the “workshop version,” not the full polished repo. That starter is intentionally incomplete so they get to build the important ideas themselves.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“I was looking at C++ systems and performance-oriented roles, and the same themes kept showing up: memory layout, low-latency code, benchmarking, and being able to justify trade-offs instead of just shipping features. That pushed me toward hash tables, because everyone uses them, but very few people can explain when one design wins over another. Then I got interested in workload-specific behavior, especially request-scoped </a:t>
            </a:r>
            <a:r>
              <a:rPr lang="en-CA" sz="1200" b="0" i="0" kern="1200" dirty="0" err="1">
                <a:solidFill>
                  <a:schemeClr val="tx1"/>
                </a:solidFill>
                <a:effectLst/>
                <a:latin typeface="+mn-lt"/>
                <a:ea typeface="+mn-ea"/>
                <a:cs typeface="+mn-cs"/>
              </a:rPr>
              <a:t>dedup</a:t>
            </a:r>
            <a:r>
              <a:rPr lang="en-CA" sz="1200" b="0" i="0" kern="1200" dirty="0">
                <a:solidFill>
                  <a:schemeClr val="tx1"/>
                </a:solidFill>
                <a:effectLst/>
                <a:latin typeface="+mn-lt"/>
                <a:ea typeface="+mn-ea"/>
                <a:cs typeface="+mn-cs"/>
              </a:rPr>
              <a:t> and per-batch enrichment caches, where you repeatedly build a temporary lookup structure, hammer it for one batch, then clear and rebuild it. That led to </a:t>
            </a:r>
            <a:r>
              <a:rPr lang="en-CA" sz="1200" b="0" i="0" kern="1200" dirty="0" err="1">
                <a:solidFill>
                  <a:schemeClr val="tx1"/>
                </a:solidFill>
                <a:effectLst/>
                <a:latin typeface="+mn-lt"/>
                <a:ea typeface="+mn-ea"/>
                <a:cs typeface="+mn-cs"/>
              </a:rPr>
              <a:t>PerfMap</a:t>
            </a:r>
            <a:r>
              <a:rPr lang="en-CA" sz="1200" b="0" i="0" kern="1200" dirty="0">
                <a:solidFill>
                  <a:schemeClr val="tx1"/>
                </a:solidFill>
                <a:effectLst/>
                <a:latin typeface="+mn-lt"/>
                <a:ea typeface="+mn-ea"/>
                <a:cs typeface="+mn-cs"/>
              </a:rPr>
              <a:t>: not just ‘a </a:t>
            </a:r>
            <a:r>
              <a:rPr lang="en-CA" sz="1200" b="0" i="0" kern="1200" dirty="0" err="1">
                <a:solidFill>
                  <a:schemeClr val="tx1"/>
                </a:solidFill>
                <a:effectLst/>
                <a:latin typeface="+mn-lt"/>
                <a:ea typeface="+mn-ea"/>
                <a:cs typeface="+mn-cs"/>
              </a:rPr>
              <a:t>hashmap</a:t>
            </a:r>
            <a:r>
              <a:rPr lang="en-CA" sz="1200" b="0" i="0" kern="1200" dirty="0">
                <a:solidFill>
                  <a:schemeClr val="tx1"/>
                </a:solidFill>
                <a:effectLst/>
                <a:latin typeface="+mn-lt"/>
                <a:ea typeface="+mn-ea"/>
                <a:cs typeface="+mn-cs"/>
              </a:rPr>
              <a:t> from scratch,’ but a small benchmark lab for testing how data-structure design behaves under real workload patterns.”</a:t>
            </a:r>
          </a:p>
          <a:p>
            <a:br>
              <a:rPr lang="en-CA" dirty="0"/>
            </a:br>
            <a:endParaRPr lang="en-CA" b="1" dirty="0"/>
          </a:p>
          <a:p>
            <a:endParaRPr lang="en-CA" b="1" dirty="0"/>
          </a:p>
          <a:p>
            <a:r>
              <a:rPr lang="en-CA" b="1" dirty="0"/>
              <a:t>Open addressing:</a:t>
            </a:r>
            <a:r>
              <a:rPr lang="en-CA" dirty="0"/>
              <a:t> A hash map design where all elements live directly inside one main array, and collisions are handled by searching for another slot in that same array. </a:t>
            </a:r>
          </a:p>
          <a:p>
            <a:r>
              <a:rPr lang="en-CA" b="1" dirty="0"/>
              <a:t>The other main type — separate chaining:</a:t>
            </a:r>
            <a:r>
              <a:rPr lang="en-CA" dirty="0"/>
              <a:t> A hash map design where each array slot points to a bucket or linked structure that stores all items that collided there. </a:t>
            </a:r>
          </a:p>
          <a:p>
            <a:r>
              <a:rPr lang="en-CA" b="1" dirty="0"/>
              <a:t>Flat vector storage:</a:t>
            </a:r>
            <a:r>
              <a:rPr lang="en-CA" dirty="0"/>
              <a:t> This means the hash map stores entries in one contiguous block of memory, which is cache-friendly and usually faster to scan. </a:t>
            </a:r>
          </a:p>
          <a:p>
            <a:r>
              <a:rPr lang="en-CA" b="1" dirty="0"/>
              <a:t>Default compared to flat storage:</a:t>
            </a:r>
            <a:r>
              <a:rPr lang="en-CA" dirty="0"/>
              <a:t> The more traditional/default style in many hash maps is pointer-heavy storage like separate chaining, where entries may be scattered around memory. </a:t>
            </a:r>
          </a:p>
          <a:p>
            <a:r>
              <a:rPr lang="en-CA" b="1" dirty="0"/>
              <a:t>Linear probing:</a:t>
            </a:r>
            <a:r>
              <a:rPr lang="en-CA" dirty="0"/>
              <a:t> When a collision happens, you check the next slot, then the next, then the next, until you find an empty one or the key. </a:t>
            </a:r>
          </a:p>
          <a:p>
            <a:r>
              <a:rPr lang="en-CA" b="1" dirty="0"/>
              <a:t>Alternative to linear probing:</a:t>
            </a:r>
            <a:r>
              <a:rPr lang="en-CA" dirty="0"/>
              <a:t> Common alternatives are quadratic probing, double hashing, or separate chaining, which spread collisions differently. </a:t>
            </a:r>
          </a:p>
          <a:p>
            <a:r>
              <a:rPr lang="en-CA" b="1" dirty="0"/>
              <a:t>Tombstone-aware deletion:</a:t>
            </a:r>
            <a:r>
              <a:rPr lang="en-CA" dirty="0"/>
              <a:t> Instead of truly clearing a deleted slot, you mark it as “used before but now deleted” so future lookups do not break. </a:t>
            </a:r>
          </a:p>
          <a:p>
            <a:r>
              <a:rPr lang="en-CA" b="1" dirty="0"/>
              <a:t>Tombstone:</a:t>
            </a:r>
            <a:r>
              <a:rPr lang="en-CA" dirty="0"/>
              <a:t> A tombstone is just a special marker left behind in a deleted slot saying “don’t stop searching here, but this slot can be reused later.” </a:t>
            </a:r>
          </a:p>
          <a:p>
            <a:r>
              <a:rPr lang="en-CA" b="1" dirty="0"/>
              <a:t>Power-of-two capacity:</a:t>
            </a:r>
            <a:r>
              <a:rPr lang="en-CA" dirty="0"/>
              <a:t> This means the table size is always 2, 4, 8, 16, 32, etc., which makes index calculation cheaper. </a:t>
            </a:r>
          </a:p>
          <a:p>
            <a:r>
              <a:rPr lang="en-CA" b="1" dirty="0"/>
              <a:t>What that helps with:</a:t>
            </a:r>
            <a:r>
              <a:rPr lang="en-CA" dirty="0"/>
              <a:t> It lets the hash map replace slower modulo operations with very fast bit operations. </a:t>
            </a:r>
          </a:p>
          <a:p>
            <a:r>
              <a:rPr lang="en-CA" b="1" dirty="0"/>
              <a:t>Bitmask:</a:t>
            </a:r>
            <a:r>
              <a:rPr lang="en-CA" dirty="0"/>
              <a:t> A bitmask is a binary value used to keep only certain bits of another number, usually with the </a:t>
            </a:r>
            <a:r>
              <a:rPr lang="en-CA" sz="1200" kern="1200" dirty="0">
                <a:solidFill>
                  <a:schemeClr val="tx1"/>
                </a:solidFill>
                <a:latin typeface="+mn-lt"/>
                <a:ea typeface="+mn-ea"/>
                <a:cs typeface="+mn-cs"/>
              </a:rPr>
              <a:t>&amp;</a:t>
            </a:r>
            <a:r>
              <a:rPr lang="en-CA" dirty="0"/>
              <a:t> operator. </a:t>
            </a:r>
          </a:p>
          <a:p>
            <a:r>
              <a:rPr lang="en-CA" b="1" dirty="0"/>
              <a:t>Bitmask indexing:</a:t>
            </a:r>
            <a:r>
              <a:rPr lang="en-CA" dirty="0"/>
              <a:t> In a power-of-two-sized table, you compute the slot with something like </a:t>
            </a:r>
            <a:r>
              <a:rPr lang="en-CA" sz="1200" kern="1200" dirty="0">
                <a:solidFill>
                  <a:schemeClr val="tx1"/>
                </a:solidFill>
                <a:latin typeface="+mn-lt"/>
                <a:ea typeface="+mn-ea"/>
                <a:cs typeface="+mn-cs"/>
              </a:rPr>
              <a:t>index = hash &amp; (capacity - 1)</a:t>
            </a:r>
            <a:r>
              <a:rPr lang="en-CA" dirty="0"/>
              <a:t> instead of </a:t>
            </a:r>
            <a:r>
              <a:rPr lang="en-CA" sz="1200" kern="1200" dirty="0">
                <a:solidFill>
                  <a:schemeClr val="tx1"/>
                </a:solidFill>
                <a:latin typeface="+mn-lt"/>
                <a:ea typeface="+mn-ea"/>
                <a:cs typeface="+mn-cs"/>
              </a:rPr>
              <a:t>hash % capacity</a:t>
            </a:r>
            <a:r>
              <a:rPr lang="en-CA" dirty="0"/>
              <a:t>. </a:t>
            </a:r>
          </a:p>
          <a:p>
            <a:r>
              <a:rPr lang="en-CA" b="1" dirty="0"/>
              <a:t>What bitmask indexing is doing:</a:t>
            </a:r>
            <a:r>
              <a:rPr lang="en-CA" dirty="0"/>
              <a:t> It takes the low relevant bits of the hash and turns them into a valid array index extremely quickly. </a:t>
            </a:r>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dirty="0"/>
              <a:t>Say explicitly that the project works because it is narrow. It is one data structure, but it opens the door to systems thinking, benchmark rigor, and resume storytelling.</a:t>
            </a:r>
            <a:endParaRPr lang="en-CA" dirty="0"/>
          </a:p>
          <a:p>
            <a:pPr lvl="1"/>
            <a:br>
              <a:rPr lang="en-CA" dirty="0"/>
            </a:br>
            <a:r>
              <a:rPr lang="en-CA" dirty="0"/>
              <a:t>deep enough to talk about caches, memory layout, and trade-offs</a:t>
            </a:r>
          </a:p>
          <a:p>
            <a:pPr lvl="1"/>
            <a:r>
              <a:rPr lang="en-CA" dirty="0"/>
              <a:t>benchmarkable with one command</a:t>
            </a:r>
          </a:p>
          <a:p>
            <a:pPr lvl="1"/>
            <a:r>
              <a:rPr lang="en-CA" dirty="0"/>
              <a:t>easy to extend toward cloud, ML infra, or advanced C++</a:t>
            </a:r>
          </a:p>
          <a:p>
            <a:pPr lvl="1"/>
            <a:r>
              <a:rPr lang="en-CA" dirty="0"/>
              <a:t>strong because it includes both wins and losses and resume talking points</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CA" dirty="0"/>
              <a:t>We have multiple types of </a:t>
            </a:r>
            <a:r>
              <a:rPr lang="en-CA" dirty="0" err="1"/>
              <a:t>hashmaps</a:t>
            </a:r>
            <a:r>
              <a:rPr lang="en-CA" dirty="0"/>
              <a:t> suited for different types of workloads</a:t>
            </a:r>
          </a:p>
          <a:p>
            <a:pPr marL="0" lvl="0" indent="0">
              <a:buNone/>
            </a:pPr>
            <a:endParaRPr lang="en-CA" dirty="0"/>
          </a:p>
          <a:p>
            <a:r>
              <a:rPr lang="en-CA" sz="1200" b="0" i="0" kern="1200" dirty="0">
                <a:solidFill>
                  <a:schemeClr val="tx1"/>
                </a:solidFill>
                <a:effectLst/>
                <a:latin typeface="+mn-lt"/>
                <a:ea typeface="+mn-ea"/>
                <a:cs typeface="+mn-cs"/>
              </a:rPr>
              <a:t>std::</a:t>
            </a:r>
            <a:r>
              <a:rPr lang="en-CA" sz="1200" b="0" i="0" kern="1200" dirty="0" err="1">
                <a:solidFill>
                  <a:schemeClr val="tx1"/>
                </a:solidFill>
                <a:effectLst/>
                <a:latin typeface="+mn-lt"/>
                <a:ea typeface="+mn-ea"/>
                <a:cs typeface="+mn-cs"/>
              </a:rPr>
              <a:t>unordered_map</a:t>
            </a:r>
            <a:r>
              <a:rPr lang="en-CA" sz="1200" b="0" i="0" kern="1200" dirty="0">
                <a:solidFill>
                  <a:schemeClr val="tx1"/>
                </a:solidFill>
                <a:effectLst/>
                <a:latin typeface="+mn-lt"/>
                <a:ea typeface="+mn-ea"/>
                <a:cs typeface="+mn-cs"/>
              </a:rPr>
              <a:t>: best when you want the standard-library default, stable and familiar behavior, and a general-purpose map that is “good enough” without extra dependencies. It is especially easier to justify when you care m, portability, and reference stability than squeezing out every last bit of lookup </a:t>
            </a:r>
            <a:r>
              <a:rPr lang="en-CA" sz="1200" b="0" i="0" kern="1200" dirty="0" err="1">
                <a:solidFill>
                  <a:schemeClr val="tx1"/>
                </a:solidFill>
                <a:effectLst/>
                <a:latin typeface="+mn-lt"/>
                <a:ea typeface="+mn-ea"/>
                <a:cs typeface="+mn-cs"/>
              </a:rPr>
              <a:t>performance.ore</a:t>
            </a:r>
            <a:r>
              <a:rPr lang="en-CA" sz="1200" b="0" i="0" kern="1200" dirty="0">
                <a:solidFill>
                  <a:schemeClr val="tx1"/>
                </a:solidFill>
                <a:effectLst/>
                <a:latin typeface="+mn-lt"/>
                <a:ea typeface="+mn-ea"/>
                <a:cs typeface="+mn-cs"/>
              </a:rPr>
              <a:t> about convenience</a:t>
            </a:r>
          </a:p>
          <a:p>
            <a:r>
              <a:rPr lang="en-CA" sz="1200" b="0" i="0" kern="1200" dirty="0" err="1">
                <a:solidFill>
                  <a:schemeClr val="tx1"/>
                </a:solidFill>
                <a:effectLst/>
                <a:latin typeface="+mn-lt"/>
                <a:ea typeface="+mn-ea"/>
                <a:cs typeface="+mn-cs"/>
              </a:rPr>
              <a:t>absl</a:t>
            </a:r>
            <a:r>
              <a:rPr lang="en-CA" sz="1200" b="0" i="0" kern="1200" dirty="0">
                <a:solidFill>
                  <a:schemeClr val="tx1"/>
                </a:solidFill>
                <a:effectLst/>
                <a:latin typeface="+mn-lt"/>
                <a:ea typeface="+mn-ea"/>
                <a:cs typeface="+mn-cs"/>
              </a:rPr>
              <a:t>::</a:t>
            </a:r>
            <a:r>
              <a:rPr lang="en-CA" sz="1200" b="0" i="0" kern="1200" dirty="0" err="1">
                <a:solidFill>
                  <a:schemeClr val="tx1"/>
                </a:solidFill>
                <a:effectLst/>
                <a:latin typeface="+mn-lt"/>
                <a:ea typeface="+mn-ea"/>
                <a:cs typeface="+mn-cs"/>
              </a:rPr>
              <a:t>flat_hash_map</a:t>
            </a:r>
            <a:r>
              <a:rPr lang="en-CA" sz="1200" b="0" i="0" kern="1200" dirty="0">
                <a:solidFill>
                  <a:schemeClr val="tx1"/>
                </a:solidFill>
                <a:effectLst/>
                <a:latin typeface="+mn-lt"/>
                <a:ea typeface="+mn-ea"/>
                <a:cs typeface="+mn-cs"/>
              </a:rPr>
              <a:t>: best when you want a very strong high-performance general-purpose hash map, especially for real production workloads where fast lookups and insertions matter and you do not want to hand-roll a custom container. It is a great default when performance matters but you still want something mature and broadly optimized rather than workload-specific.</a:t>
            </a:r>
          </a:p>
          <a:p>
            <a:pPr marL="0" lvl="0" indent="0">
              <a:buNone/>
            </a:pPr>
            <a:endParaRPr lang="en-CA" dirty="0"/>
          </a:p>
          <a:p>
            <a:pPr marL="0" lvl="0" indent="0">
              <a:buNone/>
            </a:pPr>
            <a:endParaRPr lang="en-CA" dirty="0"/>
          </a:p>
          <a:p>
            <a:pPr lvl="1"/>
            <a:r>
              <a:rPr lang="en-CA" dirty="0">
                <a:latin typeface="Courier"/>
              </a:rPr>
              <a:t>HashMap</a:t>
            </a:r>
            <a:r>
              <a:rPr lang="en-CA" dirty="0"/>
              <a:t>: balanced baseline</a:t>
            </a:r>
          </a:p>
          <a:p>
            <a:pPr lvl="1"/>
            <a:r>
              <a:rPr lang="en-CA" dirty="0" err="1">
                <a:latin typeface="Courier"/>
              </a:rPr>
              <a:t>ReadHeavyHashMap</a:t>
            </a:r>
            <a:r>
              <a:rPr lang="en-CA" dirty="0"/>
              <a:t>: lower load factor for faster lookups</a:t>
            </a:r>
          </a:p>
          <a:p>
            <a:pPr lvl="1"/>
            <a:r>
              <a:rPr lang="en-CA" dirty="0" err="1">
                <a:latin typeface="Courier"/>
              </a:rPr>
              <a:t>ChurnHeavyHashMap</a:t>
            </a:r>
            <a:r>
              <a:rPr lang="en-CA" dirty="0"/>
              <a:t>: more aggressive tombstone cleanup</a:t>
            </a:r>
          </a:p>
          <a:p>
            <a:pPr lvl="1"/>
            <a:r>
              <a:rPr lang="en-CA" dirty="0" err="1">
                <a:latin typeface="Courier"/>
              </a:rPr>
              <a:t>SpaceEfficientHashMap</a:t>
            </a:r>
            <a:r>
              <a:rPr lang="en-CA" dirty="0"/>
              <a:t>: tighter memory budget</a:t>
            </a:r>
          </a:p>
          <a:p>
            <a:pPr lvl="1"/>
            <a:r>
              <a:rPr lang="en-CA" dirty="0" err="1">
                <a:latin typeface="Courier"/>
              </a:rPr>
              <a:t>IndirectHashMap</a:t>
            </a:r>
            <a:r>
              <a:rPr lang="en-CA" dirty="0"/>
              <a:t>: better for large payloads</a:t>
            </a:r>
          </a:p>
          <a:p>
            <a:pPr lvl="1"/>
            <a:r>
              <a:rPr lang="en-CA" dirty="0">
                <a:latin typeface="Courier"/>
              </a:rPr>
              <a:t>Scratch*</a:t>
            </a:r>
            <a:r>
              <a:rPr lang="en-CA" dirty="0"/>
              <a:t> variants: built for repeated clear-and-rebuild cycles</a:t>
            </a:r>
          </a:p>
          <a:p>
            <a:pPr marL="0" lvl="0" indent="0">
              <a:buNone/>
            </a:pPr>
            <a:endParaRPr lang="en-CA" dirty="0"/>
          </a:p>
          <a:p>
            <a:r>
              <a:rPr lang="en-CA" dirty="0"/>
              <a:t>Tombstone: special marker left in a slot after deletion that means:</a:t>
            </a:r>
          </a:p>
          <a:p>
            <a:r>
              <a:rPr lang="en-CA" b="1" dirty="0"/>
              <a:t>“There used to be something here, but it was deleted.”</a:t>
            </a:r>
          </a:p>
          <a:p>
            <a:r>
              <a:rPr lang="en-CA" b="1" dirty="0"/>
              <a:t>Empty</a:t>
            </a:r>
            <a:r>
              <a:rPr lang="en-CA" dirty="0"/>
              <a:t> means: nothing was ever here, stop searching </a:t>
            </a:r>
            <a:r>
              <a:rPr lang="en-CA" b="1" dirty="0"/>
              <a:t>Tombstone</a:t>
            </a:r>
            <a:r>
              <a:rPr lang="en-CA" dirty="0"/>
              <a:t> means: something used to be here, keep searching </a:t>
            </a:r>
            <a:r>
              <a:rPr lang="en-CA" b="1" dirty="0"/>
              <a:t>Occupied</a:t>
            </a:r>
            <a:r>
              <a:rPr lang="en-CA" dirty="0"/>
              <a:t> means: there is a live element here</a:t>
            </a:r>
          </a:p>
          <a:p>
            <a:pPr marL="0" lvl="0" indent="0">
              <a:buNone/>
            </a:pPr>
            <a:endParaRPr lang="en-CA" dirty="0"/>
          </a:p>
          <a:p>
            <a:pPr marL="0" lvl="0" indent="0">
              <a:buNone/>
            </a:pPr>
            <a:endParaRPr lang="en-CA" dirty="0"/>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is where you slow down and teach. The two best demo moments are: 1. a tombstone preserving the probe chain 2. a tiny API decision changing benchmark behavior</a:t>
            </a:r>
            <a:endParaRPr lang="en-CA" dirty="0"/>
          </a:p>
          <a:p>
            <a:pPr marL="0" lvl="0" indent="0">
              <a:buNone/>
            </a:pPr>
            <a:endParaRPr lang="en-CA" dirty="0"/>
          </a:p>
          <a:p>
            <a:pPr lvl="1"/>
            <a:r>
              <a:rPr lang="en-CA" dirty="0"/>
              <a:t>show </a:t>
            </a:r>
            <a:r>
              <a:rPr lang="en-CA" dirty="0" err="1"/>
              <a:t>slot.h</a:t>
            </a:r>
            <a:r>
              <a:rPr lang="en-CA" dirty="0"/>
              <a:t>, </a:t>
            </a:r>
            <a:r>
              <a:rPr lang="en-CA" dirty="0" err="1"/>
              <a:t>hash_map.h</a:t>
            </a:r>
            <a:r>
              <a:rPr lang="en-CA" dirty="0"/>
              <a:t>, tests, and benchmark harness</a:t>
            </a:r>
          </a:p>
          <a:p>
            <a:pPr lvl="1"/>
            <a:r>
              <a:rPr lang="en-CA" dirty="0"/>
              <a:t>ask why tombstones exist before revealing the answer</a:t>
            </a:r>
          </a:p>
          <a:p>
            <a:pPr lvl="1"/>
            <a:r>
              <a:rPr lang="en-CA" dirty="0"/>
              <a:t>ask why </a:t>
            </a:r>
            <a:r>
              <a:rPr lang="en-CA" dirty="0" err="1"/>
              <a:t>FindPtr</a:t>
            </a:r>
            <a:r>
              <a:rPr lang="en-CA" dirty="0"/>
              <a:t>() exists before showing the miss-path cost</a:t>
            </a:r>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CA" dirty="0"/>
              <a:t>This slide is saying the project has a </a:t>
            </a:r>
            <a:r>
              <a:rPr lang="en-CA" b="1" dirty="0"/>
              <a:t>clear measured winner</a:t>
            </a:r>
            <a:r>
              <a:rPr lang="en-CA" dirty="0"/>
              <a:t>: </a:t>
            </a:r>
            <a:r>
              <a:rPr lang="en-CA" sz="1200" kern="1200" dirty="0" err="1">
                <a:solidFill>
                  <a:schemeClr val="tx1"/>
                </a:solidFill>
                <a:latin typeface="+mn-lt"/>
                <a:ea typeface="+mn-ea"/>
                <a:cs typeface="+mn-cs"/>
              </a:rPr>
              <a:t>ScratchIndirectHashMap</a:t>
            </a:r>
            <a:r>
              <a:rPr lang="en-CA" dirty="0"/>
              <a:t>. It is saying that at one tested size, that variant hit about </a:t>
            </a:r>
            <a:r>
              <a:rPr lang="en-CA" b="1" dirty="0"/>
              <a:t>53 million items per second</a:t>
            </a:r>
            <a:r>
              <a:rPr lang="en-CA" dirty="0"/>
              <a:t>. It is saying that this was about </a:t>
            </a:r>
            <a:r>
              <a:rPr lang="en-CA" b="1" dirty="0"/>
              <a:t>7.3x faster than </a:t>
            </a:r>
            <a:r>
              <a:rPr lang="en-CA" sz="1200" b="1" kern="1200" dirty="0">
                <a:solidFill>
                  <a:schemeClr val="tx1"/>
                </a:solidFill>
                <a:latin typeface="+mn-lt"/>
                <a:ea typeface="+mn-ea"/>
                <a:cs typeface="+mn-cs"/>
              </a:rPr>
              <a:t>std::</a:t>
            </a:r>
            <a:r>
              <a:rPr lang="en-CA" sz="1200" b="1" kern="1200" dirty="0" err="1">
                <a:solidFill>
                  <a:schemeClr val="tx1"/>
                </a:solidFill>
                <a:latin typeface="+mn-lt"/>
                <a:ea typeface="+mn-ea"/>
                <a:cs typeface="+mn-cs"/>
              </a:rPr>
              <a:t>unordered_map</a:t>
            </a:r>
            <a:r>
              <a:rPr lang="en-CA" dirty="0"/>
              <a:t> in that workload. It is also saying the repo is </a:t>
            </a:r>
            <a:r>
              <a:rPr lang="en-CA" b="1" dirty="0"/>
              <a:t>more credible because it includes a real loss</a:t>
            </a:r>
            <a:r>
              <a:rPr lang="en-CA" dirty="0"/>
              <a:t>, not just wins everywhere. That “honest loss” is that </a:t>
            </a:r>
            <a:r>
              <a:rPr lang="en-CA" sz="1200" b="1" kern="1200" dirty="0" err="1">
                <a:solidFill>
                  <a:schemeClr val="tx1"/>
                </a:solidFill>
                <a:latin typeface="+mn-lt"/>
                <a:ea typeface="+mn-ea"/>
                <a:cs typeface="+mn-cs"/>
              </a:rPr>
              <a:t>absl</a:t>
            </a:r>
            <a:r>
              <a:rPr lang="en-CA" sz="1200" b="1" kern="1200" dirty="0">
                <a:solidFill>
                  <a:schemeClr val="tx1"/>
                </a:solidFill>
                <a:latin typeface="+mn-lt"/>
                <a:ea typeface="+mn-ea"/>
                <a:cs typeface="+mn-cs"/>
              </a:rPr>
              <a:t>::</a:t>
            </a:r>
            <a:r>
              <a:rPr lang="en-CA" sz="1200" b="1" kern="1200" dirty="0" err="1">
                <a:solidFill>
                  <a:schemeClr val="tx1"/>
                </a:solidFill>
                <a:latin typeface="+mn-lt"/>
                <a:ea typeface="+mn-ea"/>
                <a:cs typeface="+mn-cs"/>
              </a:rPr>
              <a:t>flat_hash_map</a:t>
            </a:r>
            <a:r>
              <a:rPr lang="en-CA" b="1" dirty="0"/>
              <a:t> still does better in some broader large-value lookup cases</a:t>
            </a:r>
            <a:r>
              <a:rPr lang="en-CA" dirty="0"/>
              <a:t>. So the bigger message is: </a:t>
            </a:r>
            <a:r>
              <a:rPr lang="en-CA" b="1" dirty="0"/>
              <a:t>the project is strong because it benchmarked multiple designs, found where it wins, and admitted where it does not.</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CA" b="1" dirty="0"/>
              <a:t>2 spaces</a:t>
            </a:r>
            <a:r>
              <a:rPr lang="en-CA" dirty="0"/>
              <a:t> </a:t>
            </a:r>
          </a:p>
          <a:p>
            <a:pPr marL="0" lvl="0" indent="0">
              <a:buNone/>
            </a:pPr>
            <a:r>
              <a:rPr lang="en-CA" b="1" dirty="0"/>
              <a:t>no tabs</a:t>
            </a:r>
            <a:r>
              <a:rPr lang="en-CA" dirty="0"/>
              <a:t> </a:t>
            </a:r>
          </a:p>
          <a:p>
            <a:pPr marL="0" lvl="0" indent="0">
              <a:buNone/>
            </a:pPr>
            <a:r>
              <a:rPr lang="en-CA" b="1" dirty="0"/>
              <a:t>same-line braces</a:t>
            </a:r>
            <a:r>
              <a:rPr lang="en-CA" dirty="0"/>
              <a:t> </a:t>
            </a:r>
          </a:p>
          <a:p>
            <a:pPr marL="0" lvl="0" indent="0">
              <a:buNone/>
            </a:pPr>
            <a:r>
              <a:rPr lang="en-CA" b="1" dirty="0"/>
              <a:t>consistent naming</a:t>
            </a:r>
            <a:r>
              <a:rPr lang="en-CA" dirty="0"/>
              <a:t> </a:t>
            </a:r>
          </a:p>
          <a:p>
            <a:pPr marL="0" lvl="0" indent="0">
              <a:buNone/>
            </a:pPr>
            <a:r>
              <a:rPr lang="en-CA" b="1" dirty="0"/>
              <a:t>ordered includes</a:t>
            </a:r>
          </a:p>
          <a:p>
            <a:pPr marL="0" lvl="0" indent="0">
              <a:buNone/>
            </a:pPr>
            <a:r>
              <a:rPr lang="en-CA" dirty="0"/>
              <a:t> </a:t>
            </a:r>
            <a:r>
              <a:rPr lang="en-CA" b="1" dirty="0"/>
              <a:t>readability over cleverness</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1" i="0" kern="1200" dirty="0">
                <a:solidFill>
                  <a:schemeClr val="tx1"/>
                </a:solidFill>
                <a:effectLst/>
                <a:latin typeface="+mn-lt"/>
                <a:ea typeface="+mn-ea"/>
                <a:cs typeface="+mn-cs"/>
              </a:rPr>
              <a:t>The three workshop-friendly workloads to talk about</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Request-scoped </a:t>
            </a:r>
            <a:r>
              <a:rPr lang="en-CA" sz="1200" b="0" i="0" kern="1200" dirty="0" err="1">
                <a:solidFill>
                  <a:schemeClr val="tx1"/>
                </a:solidFill>
                <a:effectLst/>
                <a:latin typeface="+mn-lt"/>
                <a:ea typeface="+mn-ea"/>
                <a:cs typeface="+mn-cs"/>
              </a:rPr>
              <a:t>dedup</a:t>
            </a:r>
            <a:r>
              <a:rPr lang="en-CA" sz="1200" b="0" i="0" kern="1200" dirty="0">
                <a:solidFill>
                  <a:schemeClr val="tx1"/>
                </a:solidFill>
                <a:effectLst/>
                <a:latin typeface="+mn-lt"/>
                <a:ea typeface="+mn-ea"/>
                <a:cs typeface="+mn-cs"/>
              </a:rPr>
              <a:t> / enrichment</a:t>
            </a:r>
          </a:p>
          <a:p>
            <a:pPr lvl="1"/>
            <a:r>
              <a:rPr lang="en-CA" sz="1200" b="0" i="0" kern="1200" dirty="0">
                <a:solidFill>
                  <a:schemeClr val="tx1"/>
                </a:solidFill>
                <a:effectLst/>
                <a:latin typeface="+mn-lt"/>
                <a:ea typeface="+mn-ea"/>
                <a:cs typeface="+mn-cs"/>
              </a:rPr>
              <a:t>One request arrives with many repeated IDs.</a:t>
            </a:r>
          </a:p>
          <a:p>
            <a:pPr lvl="1"/>
            <a:r>
              <a:rPr lang="en-CA" sz="1200" b="0" i="0" kern="1200" dirty="0">
                <a:solidFill>
                  <a:schemeClr val="tx1"/>
                </a:solidFill>
                <a:effectLst/>
                <a:latin typeface="+mn-lt"/>
                <a:ea typeface="+mn-ea"/>
                <a:cs typeface="+mn-cs"/>
              </a:rPr>
              <a:t>You build a temporary map for that request.</a:t>
            </a:r>
          </a:p>
          <a:p>
            <a:pPr lvl="1"/>
            <a:r>
              <a:rPr lang="en-CA" sz="1200" b="0" i="0" kern="1200" dirty="0">
                <a:solidFill>
                  <a:schemeClr val="tx1"/>
                </a:solidFill>
                <a:effectLst/>
                <a:latin typeface="+mn-lt"/>
                <a:ea typeface="+mn-ea"/>
                <a:cs typeface="+mn-cs"/>
              </a:rPr>
              <a:t>You use it to avoid repeated work.</a:t>
            </a:r>
          </a:p>
          <a:p>
            <a:pPr lvl="1"/>
            <a:r>
              <a:rPr lang="en-CA" sz="1200" b="0" i="0" kern="1200" dirty="0">
                <a:solidFill>
                  <a:schemeClr val="tx1"/>
                </a:solidFill>
                <a:effectLst/>
                <a:latin typeface="+mn-lt"/>
                <a:ea typeface="+mn-ea"/>
                <a:cs typeface="+mn-cs"/>
              </a:rPr>
              <a:t>Then the request finishes, and the map is cleared.</a:t>
            </a:r>
          </a:p>
          <a:p>
            <a:pPr lvl="1"/>
            <a:r>
              <a:rPr lang="en-CA" sz="1200" b="0" i="0" kern="1200" dirty="0">
                <a:solidFill>
                  <a:schemeClr val="tx1"/>
                </a:solidFill>
                <a:effectLst/>
                <a:latin typeface="+mn-lt"/>
                <a:ea typeface="+mn-ea"/>
                <a:cs typeface="+mn-cs"/>
              </a:rPr>
              <a:t>This is a scratch/rebuild workload.</a:t>
            </a:r>
          </a:p>
          <a:p>
            <a:r>
              <a:rPr lang="en-CA" sz="1200" b="0" i="0" kern="1200" dirty="0">
                <a:solidFill>
                  <a:schemeClr val="tx1"/>
                </a:solidFill>
                <a:effectLst/>
                <a:latin typeface="+mn-lt"/>
                <a:ea typeface="+mn-ea"/>
                <a:cs typeface="+mn-cs"/>
              </a:rPr>
              <a:t>Simple way to say it:</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“Within one request, I don’t want to recompute the same lookup 20 times.”</a:t>
            </a:r>
          </a:p>
          <a:p>
            <a:r>
              <a:rPr lang="en-CA" sz="1200" b="0" i="0" kern="1200" dirty="0">
                <a:solidFill>
                  <a:schemeClr val="tx1"/>
                </a:solidFill>
                <a:effectLst/>
                <a:latin typeface="+mn-lt"/>
                <a:ea typeface="+mn-ea"/>
                <a:cs typeface="+mn-cs"/>
              </a:rPr>
              <a:t>Per-batch metadata or document enrichment cache</a:t>
            </a:r>
          </a:p>
          <a:p>
            <a:pPr lvl="1"/>
            <a:r>
              <a:rPr lang="en-CA" sz="1200" b="0" i="0" kern="1200" dirty="0">
                <a:solidFill>
                  <a:schemeClr val="tx1"/>
                </a:solidFill>
                <a:effectLst/>
                <a:latin typeface="+mn-lt"/>
                <a:ea typeface="+mn-ea"/>
                <a:cs typeface="+mn-cs"/>
              </a:rPr>
              <a:t>A batch of records comes in.</a:t>
            </a:r>
          </a:p>
          <a:p>
            <a:pPr lvl="1"/>
            <a:r>
              <a:rPr lang="en-CA" sz="1200" b="0" i="0" kern="1200" dirty="0">
                <a:solidFill>
                  <a:schemeClr val="tx1"/>
                </a:solidFill>
                <a:effectLst/>
                <a:latin typeface="+mn-lt"/>
                <a:ea typeface="+mn-ea"/>
                <a:cs typeface="+mn-cs"/>
              </a:rPr>
              <a:t>Many records reference large metadata blobs.</a:t>
            </a:r>
          </a:p>
          <a:p>
            <a:pPr lvl="1"/>
            <a:r>
              <a:rPr lang="en-CA" sz="1200" b="0" i="0" kern="1200" dirty="0">
                <a:solidFill>
                  <a:schemeClr val="tx1"/>
                </a:solidFill>
                <a:effectLst/>
                <a:latin typeface="+mn-lt"/>
                <a:ea typeface="+mn-ea"/>
                <a:cs typeface="+mn-cs"/>
              </a:rPr>
              <a:t>You build a temporary lookup table for that batch.</a:t>
            </a:r>
          </a:p>
          <a:p>
            <a:pPr lvl="1"/>
            <a:r>
              <a:rPr lang="en-CA" sz="1200" b="0" i="0" kern="1200" dirty="0">
                <a:solidFill>
                  <a:schemeClr val="tx1"/>
                </a:solidFill>
                <a:effectLst/>
                <a:latin typeface="+mn-lt"/>
                <a:ea typeface="+mn-ea"/>
                <a:cs typeface="+mn-cs"/>
              </a:rPr>
              <a:t>You query it a lot during processing.</a:t>
            </a:r>
          </a:p>
          <a:p>
            <a:pPr lvl="1"/>
            <a:r>
              <a:rPr lang="en-CA" sz="1200" b="0" i="0" kern="1200" dirty="0">
                <a:solidFill>
                  <a:schemeClr val="tx1"/>
                </a:solidFill>
                <a:effectLst/>
                <a:latin typeface="+mn-lt"/>
                <a:ea typeface="+mn-ea"/>
                <a:cs typeface="+mn-cs"/>
              </a:rPr>
              <a:t>Then you clear it and rebuild for the next batch.</a:t>
            </a:r>
          </a:p>
          <a:p>
            <a:pPr lvl="1"/>
            <a:endParaRPr lang="en-CA" sz="1200" b="0" i="0" kern="1200" dirty="0">
              <a:solidFill>
                <a:schemeClr val="tx1"/>
              </a:solidFill>
              <a:effectLst/>
              <a:latin typeface="+mn-lt"/>
              <a:ea typeface="+mn-ea"/>
              <a:cs typeface="+mn-cs"/>
            </a:endParaRPr>
          </a:p>
          <a:p>
            <a:pPr lvl="1"/>
            <a:endParaRPr lang="en-CA" sz="1200" b="0" i="0" kern="1200" dirty="0">
              <a:solidFill>
                <a:schemeClr val="tx1"/>
              </a:solidFill>
              <a:effectLst/>
              <a:latin typeface="+mn-lt"/>
              <a:ea typeface="+mn-ea"/>
              <a:cs typeface="+mn-cs"/>
            </a:endParaRPr>
          </a:p>
          <a:p>
            <a:r>
              <a:rPr lang="en-CA" sz="1200" b="0" i="0" kern="1200" dirty="0" err="1">
                <a:solidFill>
                  <a:schemeClr val="tx1"/>
                </a:solidFill>
                <a:effectLst/>
                <a:latin typeface="+mn-lt"/>
                <a:ea typeface="+mn-ea"/>
                <a:cs typeface="+mn-cs"/>
              </a:rPr>
              <a:t>WHy</a:t>
            </a:r>
            <a:endParaRPr lang="en-CA" sz="1200" b="0" i="0" kern="1200" dirty="0">
              <a:solidFill>
                <a:schemeClr val="tx1"/>
              </a:solidFill>
              <a:effectLst/>
              <a:latin typeface="+mn-lt"/>
              <a:ea typeface="+mn-ea"/>
              <a:cs typeface="+mn-cs"/>
            </a:endParaRPr>
          </a:p>
          <a:p>
            <a:r>
              <a:rPr lang="en-CA" sz="1200" b="0" i="0" kern="1200" dirty="0">
                <a:solidFill>
                  <a:schemeClr val="tx1"/>
                </a:solidFill>
                <a:effectLst/>
                <a:latin typeface="+mn-lt"/>
                <a:ea typeface="+mn-ea"/>
                <a:cs typeface="+mn-cs"/>
              </a:rPr>
              <a:t>Repeated clear/rebuild</a:t>
            </a:r>
          </a:p>
          <a:p>
            <a:r>
              <a:rPr lang="en-CA" sz="1200" b="0" i="0" kern="1200" dirty="0">
                <a:solidFill>
                  <a:schemeClr val="tx1"/>
                </a:solidFill>
                <a:effectLst/>
                <a:latin typeface="+mn-lt"/>
                <a:ea typeface="+mn-ea"/>
                <a:cs typeface="+mn-cs"/>
              </a:rPr>
              <a:t>large values</a:t>
            </a:r>
          </a:p>
          <a:p>
            <a:r>
              <a:rPr lang="en-CA" sz="1200" b="0" i="0" kern="1200" dirty="0">
                <a:solidFill>
                  <a:schemeClr val="tx1"/>
                </a:solidFill>
                <a:effectLst/>
                <a:latin typeface="+mn-lt"/>
                <a:ea typeface="+mn-ea"/>
                <a:cs typeface="+mn-cs"/>
              </a:rPr>
              <a:t>temporary lifetime</a:t>
            </a:r>
          </a:p>
          <a:p>
            <a:r>
              <a:rPr lang="en-CA" sz="1200" b="0" i="0" kern="1200" dirty="0">
                <a:solidFill>
                  <a:schemeClr val="tx1"/>
                </a:solidFill>
                <a:effectLst/>
                <a:latin typeface="+mn-lt"/>
                <a:ea typeface="+mn-ea"/>
                <a:cs typeface="+mn-cs"/>
              </a:rPr>
              <a:t>Simple way to say it:</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“I process one batch, build a temporary cache for that batch, then throw it away and do the next one.”</a:t>
            </a:r>
          </a:p>
          <a:p>
            <a:r>
              <a:rPr lang="en-CA" sz="1200" b="0" i="0" kern="1200" dirty="0">
                <a:solidFill>
                  <a:schemeClr val="tx1"/>
                </a:solidFill>
                <a:effectLst/>
                <a:latin typeface="+mn-lt"/>
                <a:ea typeface="+mn-ea"/>
                <a:cs typeface="+mn-cs"/>
              </a:rPr>
              <a:t>Graph traversal visited map</a:t>
            </a:r>
          </a:p>
          <a:p>
            <a:pPr lvl="1"/>
            <a:r>
              <a:rPr lang="en-CA" sz="1200" b="0" i="0" kern="1200" dirty="0">
                <a:solidFill>
                  <a:schemeClr val="tx1"/>
                </a:solidFill>
                <a:effectLst/>
                <a:latin typeface="+mn-lt"/>
                <a:ea typeface="+mn-ea"/>
                <a:cs typeface="+mn-cs"/>
              </a:rPr>
              <a:t>Each BFS/DFS query needs temporary visited state.</a:t>
            </a:r>
          </a:p>
          <a:p>
            <a:pPr lvl="1"/>
            <a:r>
              <a:rPr lang="en-CA" sz="1200" b="0" i="0" kern="1200" dirty="0">
                <a:solidFill>
                  <a:schemeClr val="tx1"/>
                </a:solidFill>
                <a:effectLst/>
                <a:latin typeface="+mn-lt"/>
                <a:ea typeface="+mn-ea"/>
                <a:cs typeface="+mn-cs"/>
              </a:rPr>
              <a:t>You mark nodes as seen during one traversal.</a:t>
            </a:r>
          </a:p>
          <a:p>
            <a:pPr lvl="1"/>
            <a:r>
              <a:rPr lang="en-CA" sz="1200" b="0" i="0" kern="1200" dirty="0">
                <a:solidFill>
                  <a:schemeClr val="tx1"/>
                </a:solidFill>
                <a:effectLst/>
                <a:latin typeface="+mn-lt"/>
                <a:ea typeface="+mn-ea"/>
                <a:cs typeface="+mn-cs"/>
              </a:rPr>
              <a:t>Then you reset everything for the next traversal.</a:t>
            </a:r>
          </a:p>
          <a:p>
            <a:pPr lvl="1"/>
            <a:r>
              <a:rPr lang="en-CA" sz="1200" b="0" i="0" kern="1200" dirty="0">
                <a:solidFill>
                  <a:schemeClr val="tx1"/>
                </a:solidFill>
                <a:effectLst/>
                <a:latin typeface="+mn-lt"/>
                <a:ea typeface="+mn-ea"/>
                <a:cs typeface="+mn-cs"/>
              </a:rPr>
              <a:t>Again, this is scratch/rebuild.</a:t>
            </a:r>
          </a:p>
          <a:p>
            <a:r>
              <a:rPr lang="en-CA" sz="1200" b="0" i="0" kern="1200" dirty="0">
                <a:solidFill>
                  <a:schemeClr val="tx1"/>
                </a:solidFill>
                <a:effectLst/>
                <a:latin typeface="+mn-lt"/>
                <a:ea typeface="+mn-ea"/>
                <a:cs typeface="+mn-cs"/>
              </a:rPr>
              <a:t>Simple way to say it:</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“Every graph query needs a fresh temporary map, so reset cost matters.”</a:t>
            </a:r>
          </a:p>
          <a:p>
            <a:r>
              <a:rPr lang="en-CA" sz="1200" b="1" i="0" kern="1200" dirty="0">
                <a:solidFill>
                  <a:schemeClr val="tx1"/>
                </a:solidFill>
                <a:effectLst/>
                <a:latin typeface="+mn-lt"/>
                <a:ea typeface="+mn-ea"/>
                <a:cs typeface="+mn-cs"/>
              </a:rPr>
              <a:t>How this maps to </a:t>
            </a:r>
            <a:r>
              <a:rPr lang="en-CA" sz="1200" b="1" i="0" kern="1200" dirty="0" err="1">
                <a:solidFill>
                  <a:schemeClr val="tx1"/>
                </a:solidFill>
                <a:effectLst/>
                <a:latin typeface="+mn-lt"/>
                <a:ea typeface="+mn-ea"/>
                <a:cs typeface="+mn-cs"/>
              </a:rPr>
              <a:t>PerfMap</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The main workload shapes you can explain are:</a:t>
            </a:r>
          </a:p>
          <a:p>
            <a:r>
              <a:rPr lang="en-CA" sz="1200" b="0" i="0" kern="1200" dirty="0">
                <a:solidFill>
                  <a:schemeClr val="tx1"/>
                </a:solidFill>
                <a:effectLst/>
                <a:latin typeface="+mn-lt"/>
                <a:ea typeface="+mn-ea"/>
                <a:cs typeface="+mn-cs"/>
              </a:rPr>
              <a:t>Miss-heavy: lots of failed lookups</a:t>
            </a:r>
          </a:p>
          <a:p>
            <a:r>
              <a:rPr lang="en-CA" sz="1200" b="0" i="0" kern="1200" dirty="0">
                <a:solidFill>
                  <a:schemeClr val="tx1"/>
                </a:solidFill>
                <a:effectLst/>
                <a:latin typeface="+mn-lt"/>
                <a:ea typeface="+mn-ea"/>
                <a:cs typeface="+mn-cs"/>
              </a:rPr>
              <a:t>Churn-heavy: lots of erase + insert</a:t>
            </a:r>
          </a:p>
          <a:p>
            <a:r>
              <a:rPr lang="en-CA" sz="1200" b="0" i="0" kern="1200" dirty="0">
                <a:solidFill>
                  <a:schemeClr val="tx1"/>
                </a:solidFill>
                <a:effectLst/>
                <a:latin typeface="+mn-lt"/>
                <a:ea typeface="+mn-ea"/>
                <a:cs typeface="+mn-cs"/>
              </a:rPr>
              <a:t>Scratch/rebuild: build, use briefly, clear, rebuild</a:t>
            </a:r>
          </a:p>
          <a:p>
            <a:r>
              <a:rPr lang="en-CA" sz="1200" b="0" i="0" kern="1200" dirty="0">
                <a:solidFill>
                  <a:schemeClr val="tx1"/>
                </a:solidFill>
                <a:effectLst/>
                <a:latin typeface="+mn-lt"/>
                <a:ea typeface="+mn-ea"/>
                <a:cs typeface="+mn-cs"/>
              </a:rPr>
              <a:t>Large-payload: values are big, so slot size matters</a:t>
            </a:r>
          </a:p>
          <a:p>
            <a:r>
              <a:rPr lang="en-CA" sz="1200" b="0" i="0" kern="1200" dirty="0">
                <a:solidFill>
                  <a:schemeClr val="tx1"/>
                </a:solidFill>
                <a:effectLst/>
                <a:latin typeface="+mn-lt"/>
                <a:ea typeface="+mn-ea"/>
                <a:cs typeface="+mn-cs"/>
              </a:rPr>
              <a:t>And the strongest niche in your repo is:</a:t>
            </a:r>
          </a:p>
          <a:p>
            <a:r>
              <a:rPr lang="en-CA" sz="1200" b="0" i="0" kern="1200" dirty="0">
                <a:solidFill>
                  <a:schemeClr val="tx1"/>
                </a:solidFill>
                <a:effectLst/>
                <a:latin typeface="+mn-lt"/>
                <a:ea typeface="+mn-ea"/>
                <a:cs typeface="+mn-cs"/>
              </a:rPr>
              <a:t>large-payload scratch/rebuild</a:t>
            </a:r>
          </a:p>
          <a:p>
            <a:r>
              <a:rPr lang="en-CA" sz="1200" b="0" i="0" kern="1200" dirty="0">
                <a:solidFill>
                  <a:schemeClr val="tx1"/>
                </a:solidFill>
                <a:effectLst/>
                <a:latin typeface="+mn-lt"/>
                <a:ea typeface="+mn-ea"/>
                <a:cs typeface="+mn-cs"/>
              </a:rPr>
              <a:t>example: per-batch document enrichment cache</a:t>
            </a:r>
          </a:p>
          <a:p>
            <a:r>
              <a:rPr lang="en-CA" sz="1200" b="0" i="0" kern="1200" dirty="0">
                <a:solidFill>
                  <a:schemeClr val="tx1"/>
                </a:solidFill>
                <a:effectLst/>
                <a:latin typeface="+mn-lt"/>
                <a:ea typeface="+mn-ea"/>
                <a:cs typeface="+mn-cs"/>
              </a:rPr>
              <a:t>why it wins: cheap reset plus keeping large values out of the hot probe path</a:t>
            </a:r>
          </a:p>
          <a:p>
            <a:r>
              <a:rPr lang="en-CA" sz="1200" b="1" i="0" kern="1200" dirty="0">
                <a:solidFill>
                  <a:schemeClr val="tx1"/>
                </a:solidFill>
                <a:effectLst/>
                <a:latin typeface="+mn-lt"/>
                <a:ea typeface="+mn-ea"/>
                <a:cs typeface="+mn-cs"/>
              </a:rPr>
              <a:t>One sentence you can say out loud</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“A workload is the real pattern of how a hash map gets used: not just lookups, but hit rate, miss rate, erase rate, rebuild frequency, and value size. </a:t>
            </a:r>
            <a:r>
              <a:rPr lang="en-CA" sz="1200" b="0" i="0" kern="1200" dirty="0" err="1">
                <a:solidFill>
                  <a:schemeClr val="tx1"/>
                </a:solidFill>
                <a:effectLst/>
                <a:latin typeface="+mn-lt"/>
                <a:ea typeface="+mn-ea"/>
                <a:cs typeface="+mn-cs"/>
              </a:rPr>
              <a:t>PerfMap</a:t>
            </a:r>
            <a:r>
              <a:rPr lang="en-CA" sz="1200" b="0" i="0" kern="1200" dirty="0">
                <a:solidFill>
                  <a:schemeClr val="tx1"/>
                </a:solidFill>
                <a:effectLst/>
                <a:latin typeface="+mn-lt"/>
                <a:ea typeface="+mn-ea"/>
                <a:cs typeface="+mn-cs"/>
              </a:rPr>
              <a:t> gets interesting when you stop asking ‘is this </a:t>
            </a:r>
            <a:r>
              <a:rPr lang="en-CA" sz="1200" b="0" i="0" kern="1200" dirty="0" err="1">
                <a:solidFill>
                  <a:schemeClr val="tx1"/>
                </a:solidFill>
                <a:effectLst/>
                <a:latin typeface="+mn-lt"/>
                <a:ea typeface="+mn-ea"/>
                <a:cs typeface="+mn-cs"/>
              </a:rPr>
              <a:t>hashmap</a:t>
            </a:r>
            <a:r>
              <a:rPr lang="en-CA" sz="1200" b="0" i="0" kern="1200" dirty="0">
                <a:solidFill>
                  <a:schemeClr val="tx1"/>
                </a:solidFill>
                <a:effectLst/>
                <a:latin typeface="+mn-lt"/>
                <a:ea typeface="+mn-ea"/>
                <a:cs typeface="+mn-cs"/>
              </a:rPr>
              <a:t> fast?’ and start asking ‘fast for which workload?’”</a:t>
            </a:r>
            <a:br>
              <a:rPr lang="en-CA" sz="1200" b="0" i="0" kern="1200" dirty="0">
                <a:solidFill>
                  <a:schemeClr val="tx1"/>
                </a:solidFill>
                <a:effectLst/>
                <a:latin typeface="+mn-lt"/>
                <a:ea typeface="+mn-ea"/>
                <a:cs typeface="+mn-cs"/>
              </a:rPr>
            </a:br>
            <a:br>
              <a:rPr lang="en-CA" sz="1200" b="0" i="0" kern="1200" dirty="0">
                <a:solidFill>
                  <a:schemeClr val="tx1"/>
                </a:solidFill>
                <a:effectLst/>
                <a:latin typeface="+mn-lt"/>
                <a:ea typeface="+mn-ea"/>
                <a:cs typeface="+mn-cs"/>
              </a:rPr>
            </a:br>
            <a:br>
              <a:rPr lang="en-CA" sz="1200" b="0" i="0" kern="1200" dirty="0">
                <a:solidFill>
                  <a:schemeClr val="tx1"/>
                </a:solidFill>
                <a:effectLst/>
                <a:latin typeface="+mn-lt"/>
                <a:ea typeface="+mn-ea"/>
                <a:cs typeface="+mn-cs"/>
              </a:rPr>
            </a:br>
            <a:r>
              <a:rPr lang="en-CA" dirty="0"/>
              <a:t>since 4.6 can build anything its not about implementing </a:t>
            </a:r>
            <a:r>
              <a:rPr lang="en-CA" dirty="0" err="1"/>
              <a:t>xyz</a:t>
            </a:r>
            <a:r>
              <a:rPr lang="en-CA" dirty="0"/>
              <a:t> its about what the impact of </a:t>
            </a:r>
            <a:r>
              <a:rPr lang="en-CA" dirty="0" err="1"/>
              <a:t>xyz</a:t>
            </a:r>
            <a:r>
              <a:rPr lang="en-CA" dirty="0"/>
              <a:t>:</a:t>
            </a:r>
          </a:p>
          <a:p>
            <a:r>
              <a:rPr lang="en-CA" dirty="0"/>
              <a:t>put it on the cloud</a:t>
            </a:r>
          </a:p>
          <a:p>
            <a:r>
              <a:rPr lang="en-CA" dirty="0"/>
              <a:t>get users</a:t>
            </a:r>
          </a:p>
          <a:p>
            <a:r>
              <a:rPr lang="en-CA" dirty="0"/>
              <a:t>perform at competitions: CTFs, Hackathons, competitive programming, hack the </a:t>
            </a:r>
            <a:r>
              <a:rPr lang="en-CA" dirty="0" err="1"/>
              <a:t>sem</a:t>
            </a:r>
            <a:r>
              <a:rPr lang="en-CA" dirty="0"/>
              <a:t>, business case comps,</a:t>
            </a:r>
          </a:p>
          <a:p>
            <a:r>
              <a:rPr lang="en-CA" dirty="0"/>
              <a:t>get real provable metrics</a:t>
            </a:r>
          </a:p>
          <a:p>
            <a:r>
              <a:rPr lang="en-CA" dirty="0"/>
              <a:t>Open source</a:t>
            </a:r>
          </a:p>
          <a:p>
            <a:r>
              <a:rPr lang="en-CA" dirty="0" err="1"/>
              <a:t>appstore</a:t>
            </a:r>
            <a:endParaRPr lang="en-CA" dirty="0"/>
          </a:p>
          <a:p>
            <a:r>
              <a:rPr lang="en-CA" dirty="0"/>
              <a:t>use a new tool and find a unique use case</a:t>
            </a:r>
          </a:p>
          <a:p>
            <a:r>
              <a:rPr lang="en-CA" dirty="0"/>
              <a:t>turn it into a </a:t>
            </a:r>
            <a:r>
              <a:rPr lang="en-CA" dirty="0" err="1"/>
              <a:t>vscode</a:t>
            </a:r>
            <a:r>
              <a:rPr lang="en-CA" dirty="0"/>
              <a:t> extension</a:t>
            </a:r>
          </a:p>
          <a:p>
            <a:r>
              <a:rPr lang="en-CA" dirty="0"/>
              <a:t>Implement new features on top of existing thing</a:t>
            </a:r>
          </a:p>
          <a:p>
            <a:r>
              <a:rPr lang="en-CA" dirty="0"/>
              <a:t>Implement something from a research paper</a:t>
            </a:r>
          </a:p>
          <a:p>
            <a:r>
              <a:rPr lang="en-CA" dirty="0"/>
              <a:t>Have feedback loops (in research we made surveys, I put the project on cloud, tracing errors in cloud traces, </a:t>
            </a:r>
            <a:r>
              <a:rPr lang="en-CA" dirty="0" err="1"/>
              <a:t>langchain</a:t>
            </a:r>
            <a:r>
              <a:rPr lang="en-CA" dirty="0"/>
              <a:t> tracing, etc.)</a:t>
            </a:r>
          </a:p>
          <a:p>
            <a:r>
              <a:rPr lang="en-CA" dirty="0"/>
              <a:t>Startup oh wait </a:t>
            </a:r>
            <a:r>
              <a:rPr lang="en-CA" dirty="0" err="1"/>
              <a:t>i</a:t>
            </a:r>
            <a:r>
              <a:rPr lang="en-CA" dirty="0"/>
              <a:t> signed a non disclosure agreement so </a:t>
            </a:r>
            <a:r>
              <a:rPr lang="en-CA" dirty="0" err="1"/>
              <a:t>i</a:t>
            </a:r>
            <a:r>
              <a:rPr lang="en-CA" dirty="0"/>
              <a:t> cant actually speak on it, consider relevancy to company (ariel did iOS student challenge then got into Apple) but in general have projects that match the job description, at multiple tech events </a:t>
            </a:r>
            <a:r>
              <a:rPr lang="en-CA" dirty="0" err="1"/>
              <a:t>i</a:t>
            </a:r>
            <a:r>
              <a:rPr lang="en-CA" dirty="0"/>
              <a:t> was speaking with ppl and asked for resume advice they said quantify the impact twice </a:t>
            </a:r>
            <a:r>
              <a:rPr lang="en-CA" dirty="0" err="1"/>
              <a:t>i</a:t>
            </a:r>
            <a:r>
              <a:rPr lang="en-CA" dirty="0"/>
              <a:t> said </a:t>
            </a:r>
            <a:r>
              <a:rPr lang="en-CA" dirty="0" err="1"/>
              <a:t>i</a:t>
            </a:r>
            <a:r>
              <a:rPr lang="en-CA" dirty="0"/>
              <a:t> </a:t>
            </a:r>
            <a:r>
              <a:rPr lang="en-CA" dirty="0" err="1"/>
              <a:t>didnt</a:t>
            </a:r>
            <a:r>
              <a:rPr lang="en-CA" dirty="0"/>
              <a:t> have metrics twice </a:t>
            </a:r>
            <a:r>
              <a:rPr lang="en-CA" dirty="0" err="1"/>
              <a:t>i</a:t>
            </a:r>
            <a:r>
              <a:rPr lang="en-CA" dirty="0"/>
              <a:t> was told to make </a:t>
            </a:r>
            <a:r>
              <a:rPr lang="en-CA" dirty="0" err="1"/>
              <a:t>sm</a:t>
            </a:r>
            <a:r>
              <a:rPr lang="en-CA" dirty="0"/>
              <a:t> up, make it with hardware, use real life data or collect your own data</a:t>
            </a:r>
          </a:p>
          <a:p>
            <a:endParaRPr lang="en-C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15</a:t>
            </a:fld>
            <a:endParaRPr lang="en-US"/>
          </a:p>
        </p:txBody>
      </p:sp>
    </p:spTree>
    <p:extLst>
      <p:ext uri="{BB962C8B-B14F-4D97-AF65-F5344CB8AC3E}">
        <p14:creationId xmlns:p14="http://schemas.microsoft.com/office/powerpoint/2010/main" val="988652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This is the part I like most, because the point of this project is not to build a hash map forever. The point is that one solid technical project that can branch into very different career stories depending on what you build next.</a:t>
            </a:r>
          </a:p>
          <a:p>
            <a:r>
              <a:rPr lang="en-CA" sz="1200" b="0" i="0" kern="1200" dirty="0">
                <a:solidFill>
                  <a:schemeClr val="tx1"/>
                </a:solidFill>
                <a:effectLst/>
                <a:latin typeface="+mn-lt"/>
                <a:ea typeface="+mn-ea"/>
                <a:cs typeface="+mn-cs"/>
              </a:rPr>
              <a:t>The first path is AWS and DevOps. If you care more about infrastructure, reproducibility, and production systems, you can turn this into a performance regression pipeline. You can run benchmarks in CI, compare results across EC2 or Graviton machines, store outputs in S3, and build dashboards and alerts. At that point, it stops being just a local C++ project and starts looking like an engineering system.</a:t>
            </a:r>
          </a:p>
          <a:p>
            <a:r>
              <a:rPr lang="en-CA" sz="1200" b="0" i="0" kern="1200" dirty="0">
                <a:solidFill>
                  <a:schemeClr val="tx1"/>
                </a:solidFill>
                <a:effectLst/>
                <a:latin typeface="+mn-lt"/>
                <a:ea typeface="+mn-ea"/>
                <a:cs typeface="+mn-cs"/>
              </a:rPr>
              <a:t>The second path is low-level AI and ML systems. A lot of ML infra is not just training models, it’s fast lookup paths, metadata caches, request </a:t>
            </a:r>
            <a:r>
              <a:rPr lang="en-CA" sz="1200" b="0" i="0" kern="1200" dirty="0" err="1">
                <a:solidFill>
                  <a:schemeClr val="tx1"/>
                </a:solidFill>
                <a:effectLst/>
                <a:latin typeface="+mn-lt"/>
                <a:ea typeface="+mn-ea"/>
                <a:cs typeface="+mn-cs"/>
              </a:rPr>
              <a:t>dedup</a:t>
            </a:r>
            <a:r>
              <a:rPr lang="en-CA" sz="1200" b="0" i="0" kern="1200" dirty="0">
                <a:solidFill>
                  <a:schemeClr val="tx1"/>
                </a:solidFill>
                <a:effectLst/>
                <a:latin typeface="+mn-lt"/>
                <a:ea typeface="+mn-ea"/>
                <a:cs typeface="+mn-cs"/>
              </a:rPr>
              <a:t>, and latency-sensitive serving. So you can use this same repo to model feature-store hot paths, embedding metadata caches, or inference request </a:t>
            </a:r>
            <a:r>
              <a:rPr lang="en-CA" sz="1200" b="0" i="0" kern="1200" dirty="0" err="1">
                <a:solidFill>
                  <a:schemeClr val="tx1"/>
                </a:solidFill>
                <a:effectLst/>
                <a:latin typeface="+mn-lt"/>
                <a:ea typeface="+mn-ea"/>
                <a:cs typeface="+mn-cs"/>
              </a:rPr>
              <a:t>dedup</a:t>
            </a:r>
            <a:r>
              <a:rPr lang="en-CA" sz="1200" b="0" i="0" kern="1200" dirty="0">
                <a:solidFill>
                  <a:schemeClr val="tx1"/>
                </a:solidFill>
                <a:effectLst/>
                <a:latin typeface="+mn-lt"/>
                <a:ea typeface="+mn-ea"/>
                <a:cs typeface="+mn-cs"/>
              </a:rPr>
              <a:t>. That gives you an ML-systems angle without making some fake AI wrapper.</a:t>
            </a:r>
          </a:p>
          <a:p>
            <a:r>
              <a:rPr lang="en-CA" sz="1200" b="0" i="0" kern="1200" dirty="0">
                <a:solidFill>
                  <a:schemeClr val="tx1"/>
                </a:solidFill>
                <a:effectLst/>
                <a:latin typeface="+mn-lt"/>
                <a:ea typeface="+mn-ea"/>
                <a:cs typeface="+mn-cs"/>
              </a:rPr>
              <a:t>The third path is advanced performance C++. This is for the people who want to go deeper into the data structure itself. You can implement Robin Hood hashing, SIMD probing, </a:t>
            </a:r>
            <a:r>
              <a:rPr lang="en-CA" sz="1200" b="0" i="0" kern="1200" dirty="0" err="1">
                <a:solidFill>
                  <a:schemeClr val="tx1"/>
                </a:solidFill>
                <a:effectLst/>
                <a:latin typeface="+mn-lt"/>
                <a:ea typeface="+mn-ea"/>
                <a:cs typeface="+mn-cs"/>
              </a:rPr>
              <a:t>SwissTable</a:t>
            </a:r>
            <a:r>
              <a:rPr lang="en-CA" sz="1200" b="0" i="0" kern="1200" dirty="0">
                <a:solidFill>
                  <a:schemeClr val="tx1"/>
                </a:solidFill>
                <a:effectLst/>
                <a:latin typeface="+mn-lt"/>
                <a:ea typeface="+mn-ea"/>
                <a:cs typeface="+mn-cs"/>
              </a:rPr>
              <a:t>-style metadata, or custom allocators. That turns the project into a much stronger systems and performance-engineering repo.</a:t>
            </a:r>
          </a:p>
          <a:p>
            <a:r>
              <a:rPr lang="en-CA" sz="1200" b="0" i="0" kern="1200" dirty="0">
                <a:solidFill>
                  <a:schemeClr val="tx1"/>
                </a:solidFill>
                <a:effectLst/>
                <a:latin typeface="+mn-lt"/>
                <a:ea typeface="+mn-ea"/>
                <a:cs typeface="+mn-cs"/>
              </a:rPr>
              <a:t>So the key idea here is: same starting project, three very different directions. Cloud and infra, ML systems, or hardcore performance C++. And that’s what makes a project like this strong, it’s flexible, but still technically deep.”</a:t>
            </a:r>
          </a:p>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17</a:t>
            </a:fld>
            <a:endParaRPr lang="en-US"/>
          </a:p>
        </p:txBody>
      </p:sp>
    </p:spTree>
    <p:extLst>
      <p:ext uri="{BB962C8B-B14F-4D97-AF65-F5344CB8AC3E}">
        <p14:creationId xmlns:p14="http://schemas.microsoft.com/office/powerpoint/2010/main" val="17167141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1EB5C9-1307-BA42-ABA2-0BC069CD8E7F}" type="datetimeFigureOut">
              <a:rPr lang="en-US" smtClean="0"/>
              <a:t>3/31/26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9144000" cy="3561989"/>
            <a:chOff x="0" y="3296011"/>
            <a:chExt cx="12192000" cy="3561989"/>
          </a:xfrm>
          <a:effectLst>
            <a:outerShdw blurRad="254000" dist="152400" dir="16200000" rotWithShape="0">
              <a:prstClr val="black">
                <a:alpha val="10000"/>
              </a:prstClr>
            </a:outerShdw>
          </a:effectLst>
        </p:grpSpPr>
        <p:grpSp>
          <p:nvGrpSpPr>
            <p:cNvPr id="12" name="Group 11">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6" name="Freeform: Shape 15">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Shape 16">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3" name="Group 12">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4" name="Freeform: Shape 13">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3">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Title 1"/>
          <p:cNvSpPr>
            <a:spLocks noGrp="1"/>
          </p:cNvSpPr>
          <p:nvPr>
            <p:ph type="ctrTitle"/>
          </p:nvPr>
        </p:nvSpPr>
        <p:spPr>
          <a:xfrm>
            <a:off x="628649" y="1120676"/>
            <a:ext cx="5266135" cy="2308324"/>
          </a:xfrm>
        </p:spPr>
        <p:txBody>
          <a:bodyPr>
            <a:normAutofit/>
          </a:bodyPr>
          <a:lstStyle/>
          <a:p>
            <a:pPr marL="0" lvl="0" indent="0" algn="l">
              <a:buNone/>
            </a:pPr>
            <a:r>
              <a:rPr lang="en-CA" sz="6300">
                <a:solidFill>
                  <a:schemeClr val="bg1"/>
                </a:solidFill>
              </a:rPr>
              <a:t>PerfMap</a:t>
            </a:r>
          </a:p>
        </p:txBody>
      </p:sp>
      <p:sp>
        <p:nvSpPr>
          <p:cNvPr id="3" name="Subtitle 2"/>
          <p:cNvSpPr>
            <a:spLocks noGrp="1"/>
          </p:cNvSpPr>
          <p:nvPr>
            <p:ph type="subTitle" idx="1"/>
          </p:nvPr>
        </p:nvSpPr>
        <p:spPr>
          <a:xfrm>
            <a:off x="626268" y="3809999"/>
            <a:ext cx="5269314" cy="1012778"/>
          </a:xfrm>
        </p:spPr>
        <p:txBody>
          <a:bodyPr>
            <a:normAutofit/>
          </a:bodyPr>
          <a:lstStyle/>
          <a:p>
            <a:pPr marL="0" lvl="0" indent="0" algn="l">
              <a:lnSpc>
                <a:spcPct val="90000"/>
              </a:lnSpc>
              <a:buNone/>
            </a:pPr>
            <a:r>
              <a:rPr lang="en-CA" sz="2200">
                <a:solidFill>
                  <a:schemeClr val="bg1"/>
                </a:solidFill>
              </a:rPr>
              <a:t>A Google-Style C++ Performance Workshop</a:t>
            </a:r>
            <a:br>
              <a:rPr lang="en-CA" sz="2200">
                <a:solidFill>
                  <a:schemeClr val="bg1"/>
                </a:solidFill>
              </a:rPr>
            </a:br>
            <a:br>
              <a:rPr lang="en-CA" sz="2200">
                <a:solidFill>
                  <a:schemeClr val="bg1"/>
                </a:solidFill>
              </a:rPr>
            </a:br>
            <a:r>
              <a:rPr lang="en-CA" sz="2200">
                <a:solidFill>
                  <a:schemeClr val="bg1"/>
                </a:solidFill>
              </a:rPr>
              <a:t>Diar Shakimov | SFU GDSC</a:t>
            </a:r>
          </a:p>
        </p:txBody>
      </p:sp>
      <p:sp>
        <p:nvSpPr>
          <p:cNvPr id="4" name="Date Placeholder 3"/>
          <p:cNvSpPr>
            <a:spLocks noGrp="1"/>
          </p:cNvSpPr>
          <p:nvPr>
            <p:ph type="dt" sz="half" idx="10"/>
          </p:nvPr>
        </p:nvSpPr>
        <p:spPr>
          <a:xfrm>
            <a:off x="628650" y="476250"/>
            <a:ext cx="2057400" cy="365125"/>
          </a:xfrm>
        </p:spPr>
        <p:txBody>
          <a:bodyPr>
            <a:normAutofit/>
          </a:bodyPr>
          <a:lstStyle/>
          <a:p>
            <a:pPr marL="0" lvl="0" indent="0">
              <a:spcAft>
                <a:spcPts val="600"/>
              </a:spcAft>
              <a:buNone/>
            </a:pPr>
            <a:r>
              <a:rPr lang="en-CA" sz="900">
                <a:solidFill>
                  <a:schemeClr val="bg1">
                    <a:alpha val="60000"/>
                  </a:schemeClr>
                </a:solidFill>
              </a:rPr>
              <a:t>March 31,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9144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12"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3">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Title 1"/>
          <p:cNvSpPr>
            <a:spLocks noGrp="1"/>
          </p:cNvSpPr>
          <p:nvPr>
            <p:ph type="title"/>
          </p:nvPr>
        </p:nvSpPr>
        <p:spPr>
          <a:xfrm>
            <a:off x="628649" y="1120676"/>
            <a:ext cx="5266135" cy="2308324"/>
          </a:xfrm>
        </p:spPr>
        <p:txBody>
          <a:bodyPr vert="horz" lIns="91440" tIns="45720" rIns="91440" bIns="45720" rtlCol="0" anchor="b">
            <a:normAutofit/>
          </a:bodyPr>
          <a:lstStyle/>
          <a:p>
            <a:pPr marL="0" lvl="0" indent="0" algn="l" defTabSz="914400">
              <a:lnSpc>
                <a:spcPct val="90000"/>
              </a:lnSpc>
            </a:pPr>
            <a:r>
              <a:rPr lang="en-US" sz="6300" kern="1200">
                <a:solidFill>
                  <a:schemeClr val="bg1"/>
                </a:solidFill>
                <a:latin typeface="+mj-lt"/>
                <a:ea typeface="+mj-ea"/>
                <a:cs typeface="+mj-cs"/>
              </a:rPr>
              <a:t>Quick Room Check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63930" y="1050595"/>
            <a:ext cx="6056111" cy="1618489"/>
          </a:xfrm>
        </p:spPr>
        <p:txBody>
          <a:bodyPr anchor="ctr">
            <a:normAutofit/>
          </a:bodyPr>
          <a:lstStyle/>
          <a:p>
            <a:pPr marL="0" lvl="0" indent="0">
              <a:lnSpc>
                <a:spcPct val="90000"/>
              </a:lnSpc>
              <a:buNone/>
            </a:pPr>
            <a:r>
              <a:rPr lang="en-CA" sz="4900"/>
              <a:t>What Makes A Project Stand Out In 2026</a:t>
            </a:r>
          </a:p>
        </p:txBody>
      </p:sp>
      <p:sp>
        <p:nvSpPr>
          <p:cNvPr id="3" name="Content Placeholder 2"/>
          <p:cNvSpPr>
            <a:spLocks noGrp="1"/>
          </p:cNvSpPr>
          <p:nvPr>
            <p:ph idx="1"/>
          </p:nvPr>
        </p:nvSpPr>
        <p:spPr>
          <a:xfrm>
            <a:off x="963930" y="2969469"/>
            <a:ext cx="6056111" cy="2800395"/>
          </a:xfrm>
        </p:spPr>
        <p:txBody>
          <a:bodyPr anchor="t">
            <a:normAutofit/>
          </a:bodyPr>
          <a:lstStyle/>
          <a:p>
            <a:pPr lvl="1"/>
            <a:r>
              <a:rPr lang="en-CA" sz="2100"/>
              <a:t>Solves a real problem</a:t>
            </a:r>
          </a:p>
          <a:p>
            <a:pPr lvl="1"/>
            <a:r>
              <a:rPr lang="en-CA" sz="2100"/>
              <a:t>Iteration</a:t>
            </a:r>
          </a:p>
          <a:p>
            <a:pPr lvl="1"/>
            <a:r>
              <a:rPr lang="en-CA" sz="2100"/>
              <a:t>Clear Impact</a:t>
            </a:r>
          </a:p>
          <a:p>
            <a:pPr lvl="1"/>
            <a:r>
              <a:rPr lang="en-CA" sz="2100"/>
              <a:t>Uses AI intentionally</a:t>
            </a:r>
          </a:p>
          <a:p>
            <a:pPr lvl="1"/>
            <a:r>
              <a:rPr lang="en-CA" sz="2100"/>
              <a:t>Depth over Breadth</a:t>
            </a:r>
          </a:p>
          <a:p>
            <a:pPr marL="457200" lvl="1" indent="0">
              <a:buNone/>
            </a:pPr>
            <a:endParaRPr lang="en-CA" sz="2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 y="-5705"/>
            <a:ext cx="9143993"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67638" y="637762"/>
            <a:ext cx="7416372" cy="900131"/>
          </a:xfrm>
        </p:spPr>
        <p:txBody>
          <a:bodyPr anchor="t">
            <a:normAutofit/>
          </a:bodyPr>
          <a:lstStyle/>
          <a:p>
            <a:pPr marL="0" lvl="0" indent="0" algn="l">
              <a:buNone/>
            </a:pPr>
            <a:r>
              <a:rPr lang="en-CA" sz="3500">
                <a:solidFill>
                  <a:schemeClr val="bg1"/>
                </a:solidFill>
              </a:rPr>
              <a:t>Weak Projects</a:t>
            </a: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9143992"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638" y="2010758"/>
            <a:ext cx="342892"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66661" y="2217343"/>
            <a:ext cx="7410669" cy="3959619"/>
          </a:xfrm>
        </p:spPr>
        <p:txBody>
          <a:bodyPr>
            <a:normAutofit/>
          </a:bodyPr>
          <a:lstStyle/>
          <a:p>
            <a:pPr lvl="1"/>
            <a:r>
              <a:rPr lang="en-CA" sz="2100"/>
              <a:t>Generic CRUD with no real constraints</a:t>
            </a:r>
          </a:p>
          <a:p>
            <a:pPr lvl="1"/>
            <a:r>
              <a:rPr lang="en-CA" sz="2100"/>
              <a:t>No metrics, no benchmarks, no users, no feedback loop</a:t>
            </a:r>
          </a:p>
          <a:p>
            <a:pPr lvl="1"/>
            <a:r>
              <a:rPr lang="en-CA" sz="2100"/>
              <a:t>No honest loss or trade-off anywhere</a:t>
            </a:r>
          </a:p>
          <a:p>
            <a:pPr lvl="1"/>
            <a:r>
              <a:rPr lang="en-CA" sz="2100"/>
              <a:t>No personal thought or effort</a:t>
            </a:r>
          </a:p>
          <a:p>
            <a:pPr lvl="1"/>
            <a:r>
              <a:rPr lang="en-CA" sz="2100"/>
              <a:t>Surface area everywhere, depth nowhere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pPr marL="0" lvl="0" indent="0">
              <a:lnSpc>
                <a:spcPct val="90000"/>
              </a:lnSpc>
              <a:buNone/>
            </a:pPr>
            <a:r>
              <a:rPr lang="en-CA" sz="3000">
                <a:solidFill>
                  <a:srgbClr val="FFFFFF"/>
                </a:solidFill>
              </a:rPr>
              <a:t>Where Good Project Ideas Usually Come From</a:t>
            </a:r>
          </a:p>
        </p:txBody>
      </p:sp>
      <p:graphicFrame>
        <p:nvGraphicFramePr>
          <p:cNvPr id="5" name="Content Placeholder 2">
            <a:extLst>
              <a:ext uri="{FF2B5EF4-FFF2-40B4-BE49-F238E27FC236}">
                <a16:creationId xmlns:a16="http://schemas.microsoft.com/office/drawing/2014/main" id="{878675D3-436D-D20A-CC45-64BF13CC3ECA}"/>
              </a:ext>
            </a:extLst>
          </p:cNvPr>
          <p:cNvGraphicFramePr>
            <a:graphicFrameLocks noGrp="1"/>
          </p:cNvGraphicFramePr>
          <p:nvPr>
            <p:ph idx="1"/>
            <p:extLst>
              <p:ext uri="{D42A27DB-BD31-4B8C-83A1-F6EECF244321}">
                <p14:modId xmlns:p14="http://schemas.microsoft.com/office/powerpoint/2010/main" val="560538573"/>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Starter Repo For Attendees</a:t>
            </a:r>
          </a:p>
        </p:txBody>
      </p:sp>
      <p:sp>
        <p:nvSpPr>
          <p:cNvPr id="3" name="Content Placeholder 2"/>
          <p:cNvSpPr>
            <a:spLocks noGrp="1"/>
          </p:cNvSpPr>
          <p:nvPr>
            <p:ph idx="1"/>
          </p:nvPr>
        </p:nvSpPr>
        <p:spPr/>
        <p:txBody>
          <a:bodyPr/>
          <a:lstStyle/>
          <a:p>
            <a:pPr lvl="1"/>
            <a:r>
              <a:rPr dirty="0"/>
              <a:t>clone the incomplete starter from </a:t>
            </a:r>
            <a:r>
              <a:rPr dirty="0">
                <a:latin typeface="Courier"/>
              </a:rPr>
              <a:t>starter/perfmap-10d</a:t>
            </a:r>
          </a:p>
          <a:p>
            <a:pPr lvl="1"/>
            <a:r>
              <a:rPr dirty="0"/>
              <a:t>fill in the core open-addressing behavior</a:t>
            </a:r>
          </a:p>
          <a:p>
            <a:pPr lvl="1"/>
            <a:r>
              <a:rPr dirty="0"/>
              <a:t>make the tombstone test pass</a:t>
            </a:r>
          </a:p>
          <a:p>
            <a:pPr lvl="1"/>
            <a:r>
              <a:rPr dirty="0"/>
              <a:t>make rehashing work</a:t>
            </a:r>
          </a:p>
          <a:p>
            <a:pPr lvl="1"/>
            <a:r>
              <a:rPr dirty="0"/>
              <a:t>then benchmark your version against the completed repo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PerfMap Actually Is</a:t>
            </a:r>
          </a:p>
        </p:txBody>
      </p:sp>
      <p:sp>
        <p:nvSpPr>
          <p:cNvPr id="3" name="Content Placeholder 2"/>
          <p:cNvSpPr>
            <a:spLocks noGrp="1"/>
          </p:cNvSpPr>
          <p:nvPr>
            <p:ph idx="1"/>
          </p:nvPr>
        </p:nvSpPr>
        <p:spPr/>
        <p:txBody>
          <a:bodyPr/>
          <a:lstStyle/>
          <a:p>
            <a:pPr lvl="1"/>
            <a:r>
              <a:rPr lang="en-CA" dirty="0"/>
              <a:t>custom</a:t>
            </a:r>
            <a:r>
              <a:rPr dirty="0"/>
              <a:t> hash map</a:t>
            </a:r>
            <a:endParaRPr dirty="0">
              <a:latin typeface="Courier"/>
            </a:endParaRPr>
          </a:p>
          <a:p>
            <a:pPr lvl="1"/>
            <a:r>
              <a:rPr dirty="0"/>
              <a:t>flat</a:t>
            </a:r>
            <a:r>
              <a:rPr lang="en-CA" dirty="0"/>
              <a:t> vector</a:t>
            </a:r>
            <a:r>
              <a:rPr dirty="0"/>
              <a:t> storage</a:t>
            </a:r>
          </a:p>
          <a:p>
            <a:pPr lvl="1"/>
            <a:r>
              <a:rPr dirty="0"/>
              <a:t>linear probing and tombstone-aware deletion</a:t>
            </a:r>
          </a:p>
          <a:p>
            <a:pPr lvl="1"/>
            <a:r>
              <a:rPr dirty="0"/>
              <a:t>power-of-two capacity and bitmask indexing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Why PerfMap Is A Good Workshop Project</a:t>
            </a:r>
          </a:p>
        </p:txBody>
      </p:sp>
      <p:sp>
        <p:nvSpPr>
          <p:cNvPr id="3" name="Content Placeholder 2"/>
          <p:cNvSpPr>
            <a:spLocks noGrp="1"/>
          </p:cNvSpPr>
          <p:nvPr>
            <p:ph idx="1"/>
          </p:nvPr>
        </p:nvSpPr>
        <p:spPr/>
        <p:txBody>
          <a:bodyPr/>
          <a:lstStyle/>
          <a:p>
            <a:pPr lvl="1"/>
            <a:r>
              <a:rPr lang="en-CA" dirty="0"/>
              <a:t>Demonstrate depth in particular niche (computer architecture)</a:t>
            </a:r>
          </a:p>
          <a:p>
            <a:pPr lvl="1"/>
            <a:r>
              <a:rPr lang="en-CA" dirty="0"/>
              <a:t>Can be further built upon depending on your desired niche </a:t>
            </a:r>
          </a:p>
          <a:p>
            <a:pPr lvl="1"/>
            <a:r>
              <a:rPr lang="en-CA" dirty="0"/>
              <a:t>Demonstrates iteration and attention to detail</a:t>
            </a:r>
          </a:p>
          <a:p>
            <a:pPr lvl="1"/>
            <a:r>
              <a:rPr lang="en-CA" dirty="0"/>
              <a:t>Real Problem </a:t>
            </a:r>
          </a:p>
          <a:p>
            <a:pPr lvl="1"/>
            <a:r>
              <a:rPr lang="en-CA" dirty="0"/>
              <a:t>Uses AI intentionally</a:t>
            </a:r>
          </a:p>
          <a:p>
            <a:pPr lvl="1"/>
            <a:endParaRPr lang="en-CA"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One Repo, Multiple Workloads</a:t>
            </a:r>
          </a:p>
        </p:txBody>
      </p:sp>
      <p:sp>
        <p:nvSpPr>
          <p:cNvPr id="3" name="Content Placeholder 2"/>
          <p:cNvSpPr>
            <a:spLocks noGrp="1"/>
          </p:cNvSpPr>
          <p:nvPr>
            <p:ph idx="1"/>
          </p:nvPr>
        </p:nvSpPr>
        <p:spPr/>
        <p:txBody>
          <a:bodyPr>
            <a:normAutofit/>
          </a:bodyPr>
          <a:lstStyle/>
          <a:p>
            <a:pPr lvl="1"/>
            <a:r>
              <a:rPr dirty="0">
                <a:latin typeface="Courier"/>
              </a:rPr>
              <a:t>HashMap</a:t>
            </a:r>
            <a:endParaRPr dirty="0"/>
          </a:p>
          <a:p>
            <a:pPr lvl="1"/>
            <a:r>
              <a:rPr dirty="0" err="1">
                <a:latin typeface="Courier"/>
              </a:rPr>
              <a:t>ReadHeavyHashMap</a:t>
            </a:r>
            <a:endParaRPr dirty="0"/>
          </a:p>
          <a:p>
            <a:pPr lvl="1"/>
            <a:r>
              <a:rPr dirty="0" err="1">
                <a:latin typeface="Courier"/>
              </a:rPr>
              <a:t>ChurnHeavyHashMap</a:t>
            </a:r>
            <a:endParaRPr dirty="0"/>
          </a:p>
          <a:p>
            <a:pPr lvl="1"/>
            <a:r>
              <a:rPr dirty="0" err="1">
                <a:latin typeface="Courier"/>
              </a:rPr>
              <a:t>SpaceEfficientHashMap</a:t>
            </a:r>
            <a:r>
              <a:rPr dirty="0"/>
              <a:t>: tighter memory budget</a:t>
            </a:r>
          </a:p>
          <a:p>
            <a:pPr lvl="1"/>
            <a:r>
              <a:rPr dirty="0" err="1">
                <a:latin typeface="Courier"/>
              </a:rPr>
              <a:t>IndirectHashMap</a:t>
            </a:r>
            <a:r>
              <a:rPr dirty="0"/>
              <a:t>: better for large payloads</a:t>
            </a:r>
          </a:p>
          <a:p>
            <a:pPr lvl="1"/>
            <a:r>
              <a:rPr dirty="0">
                <a:latin typeface="Courier"/>
              </a:rPr>
              <a:t>Scratch*</a:t>
            </a:r>
            <a:r>
              <a:rPr dirty="0"/>
              <a:t> variants: built for repeated clear-and-rebuild cycles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3584F-28CF-8585-4E7C-EC78185BC20C}"/>
              </a:ext>
            </a:extLst>
          </p:cNvPr>
          <p:cNvSpPr>
            <a:spLocks noGrp="1"/>
          </p:cNvSpPr>
          <p:nvPr>
            <p:ph type="title"/>
          </p:nvPr>
        </p:nvSpPr>
        <p:spPr>
          <a:xfrm>
            <a:off x="457200" y="2720181"/>
            <a:ext cx="8229600" cy="1143000"/>
          </a:xfrm>
        </p:spPr>
        <p:txBody>
          <a:bodyPr/>
          <a:lstStyle/>
          <a:p>
            <a:r>
              <a:rPr lang="en-US" dirty="0"/>
              <a:t>Try it out yourself!</a:t>
            </a:r>
          </a:p>
        </p:txBody>
      </p:sp>
    </p:spTree>
    <p:extLst>
      <p:ext uri="{BB962C8B-B14F-4D97-AF65-F5344CB8AC3E}">
        <p14:creationId xmlns:p14="http://schemas.microsoft.com/office/powerpoint/2010/main" val="4029079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Live Demo Plan</a:t>
            </a:r>
          </a:p>
        </p:txBody>
      </p:sp>
      <p:sp>
        <p:nvSpPr>
          <p:cNvPr id="3" name="Content Placeholder 2"/>
          <p:cNvSpPr>
            <a:spLocks noGrp="1"/>
          </p:cNvSpPr>
          <p:nvPr>
            <p:ph idx="1"/>
          </p:nvPr>
        </p:nvSpPr>
        <p:spPr/>
        <p:txBody>
          <a:bodyPr>
            <a:normAutofit/>
          </a:bodyPr>
          <a:lstStyle/>
          <a:p>
            <a:pPr lvl="0" indent="0">
              <a:buNone/>
            </a:pPr>
            <a:r>
              <a:rPr dirty="0"/>
              <a:t>cd project/</a:t>
            </a:r>
            <a:r>
              <a:rPr dirty="0" err="1"/>
              <a:t>perfmap</a:t>
            </a:r>
            <a:r>
              <a:rPr dirty="0"/>
              <a:t>/build</a:t>
            </a:r>
            <a:br>
              <a:rPr dirty="0"/>
            </a:br>
            <a:r>
              <a:rPr dirty="0" err="1">
                <a:solidFill>
                  <a:srgbClr val="06287E"/>
                </a:solidFill>
              </a:rPr>
              <a:t>cmake</a:t>
            </a:r>
            <a:r>
              <a:rPr dirty="0"/>
              <a:t> .. </a:t>
            </a:r>
            <a:r>
              <a:rPr dirty="0">
                <a:solidFill>
                  <a:srgbClr val="7D9029"/>
                </a:solidFill>
              </a:rPr>
              <a:t>-DCMAKE_BUILD_TYPE</a:t>
            </a:r>
            <a:r>
              <a:rPr dirty="0">
                <a:solidFill>
                  <a:srgbClr val="666666"/>
                </a:solidFill>
              </a:rPr>
              <a:t>=</a:t>
            </a:r>
            <a:r>
              <a:rPr dirty="0"/>
              <a:t>Release</a:t>
            </a:r>
            <a:br>
              <a:rPr dirty="0"/>
            </a:br>
            <a:r>
              <a:rPr dirty="0">
                <a:solidFill>
                  <a:srgbClr val="06287E"/>
                </a:solidFill>
              </a:rPr>
              <a:t>make</a:t>
            </a:r>
            <a:r>
              <a:rPr dirty="0"/>
              <a:t> </a:t>
            </a:r>
            <a:r>
              <a:rPr dirty="0">
                <a:solidFill>
                  <a:srgbClr val="7D9029"/>
                </a:solidFill>
              </a:rPr>
              <a:t>-j8</a:t>
            </a:r>
            <a:br>
              <a:rPr dirty="0"/>
            </a:br>
            <a:r>
              <a:rPr dirty="0"/>
              <a:t>./</a:t>
            </a:r>
            <a:r>
              <a:rPr dirty="0" err="1"/>
              <a:t>perfmap_tests</a:t>
            </a:r>
            <a:br>
              <a:rPr dirty="0"/>
            </a:br>
            <a:r>
              <a:rPr dirty="0"/>
              <a:t>./</a:t>
            </a:r>
            <a:r>
              <a:rPr dirty="0" err="1"/>
              <a:t>perfmap_bench</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Result</a:t>
            </a:r>
            <a:r>
              <a:rPr lang="en-CA" dirty="0"/>
              <a:t>s</a:t>
            </a:r>
            <a:endParaRPr dirty="0"/>
          </a:p>
        </p:txBody>
      </p:sp>
      <p:sp>
        <p:nvSpPr>
          <p:cNvPr id="3" name="Content Placeholder 2"/>
          <p:cNvSpPr>
            <a:spLocks noGrp="1"/>
          </p:cNvSpPr>
          <p:nvPr>
            <p:ph idx="1"/>
          </p:nvPr>
        </p:nvSpPr>
        <p:spPr/>
        <p:txBody>
          <a:bodyPr/>
          <a:lstStyle/>
          <a:p>
            <a:pPr lvl="1"/>
            <a:r>
              <a:rPr dirty="0" err="1"/>
              <a:t>perfmap</a:t>
            </a:r>
            <a:r>
              <a:rPr dirty="0"/>
              <a:t>::</a:t>
            </a:r>
            <a:r>
              <a:rPr dirty="0" err="1"/>
              <a:t>ScratchIndirectHashMap</a:t>
            </a:r>
            <a:r>
              <a:rPr dirty="0"/>
              <a:t> is the strongest real win</a:t>
            </a:r>
          </a:p>
          <a:p>
            <a:pPr lvl="1"/>
            <a:r>
              <a:rPr dirty="0"/>
              <a:t>at 16,384 entries it runs around 53.0M items/s</a:t>
            </a:r>
          </a:p>
          <a:p>
            <a:pPr lvl="1"/>
            <a:r>
              <a:rPr dirty="0"/>
              <a:t>that is about 7.3x faster than std::</a:t>
            </a:r>
            <a:r>
              <a:rPr dirty="0" err="1"/>
              <a:t>unordered_map</a:t>
            </a:r>
            <a:endParaRPr dirty="0"/>
          </a:p>
          <a:p>
            <a:pPr lvl="1"/>
            <a:r>
              <a:rPr dirty="0" err="1"/>
              <a:t>absl</a:t>
            </a:r>
            <a:r>
              <a:rPr dirty="0"/>
              <a:t>::</a:t>
            </a:r>
            <a:r>
              <a:rPr dirty="0" err="1"/>
              <a:t>flat_hash_map</a:t>
            </a:r>
            <a:r>
              <a:rPr dirty="0"/>
              <a:t> still wins broad large-value lookup</a:t>
            </a:r>
          </a:p>
          <a:p>
            <a:pPr lvl="1"/>
            <a:r>
              <a:rPr dirty="0"/>
              <a:t>the honest loss is part of why the repo is credible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Winning Workload Story</a:t>
            </a:r>
          </a:p>
        </p:txBody>
      </p:sp>
      <p:sp>
        <p:nvSpPr>
          <p:cNvPr id="3" name="Content Placeholder 2"/>
          <p:cNvSpPr>
            <a:spLocks noGrp="1"/>
          </p:cNvSpPr>
          <p:nvPr>
            <p:ph idx="1"/>
          </p:nvPr>
        </p:nvSpPr>
        <p:spPr/>
        <p:txBody>
          <a:bodyPr/>
          <a:lstStyle/>
          <a:p>
            <a:pPr lvl="1"/>
            <a:r>
              <a:t>think: per-batch document enrichment cache</a:t>
            </a:r>
          </a:p>
          <a:p>
            <a:pPr lvl="1"/>
            <a:r>
              <a:t>each batch contains many records and large metadata blobs</a:t>
            </a:r>
          </a:p>
          <a:p>
            <a:pPr lvl="1"/>
            <a:r>
              <a:t>build a temporary lookup structure for that batch</a:t>
            </a:r>
          </a:p>
          <a:p>
            <a:pPr lvl="1"/>
            <a:r>
              <a:t>query it hard during the batch</a:t>
            </a:r>
          </a:p>
          <a:p>
            <a:pPr lvl="1"/>
            <a:r>
              <a:t>clear it and rebuild for the next batch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marL="0" lvl="0" indent="0">
              <a:buNone/>
            </a:pPr>
            <a:r>
              <a:rPr dirty="0"/>
              <a:t>Google-Style C++</a:t>
            </a:r>
          </a:p>
        </p:txBody>
      </p:sp>
      <p:sp>
        <p:nvSpPr>
          <p:cNvPr id="3" name="Content Placeholder 2"/>
          <p:cNvSpPr>
            <a:spLocks noGrp="1"/>
          </p:cNvSpPr>
          <p:nvPr>
            <p:ph idx="1"/>
          </p:nvPr>
        </p:nvSpPr>
        <p:spPr/>
        <p:txBody>
          <a:bodyPr/>
          <a:lstStyle/>
          <a:p>
            <a:pPr lvl="1"/>
            <a:r>
              <a:rPr dirty="0"/>
              <a:t>explicit error handling</a:t>
            </a:r>
          </a:p>
          <a:p>
            <a:pPr lvl="1"/>
            <a:r>
              <a:rPr dirty="0"/>
              <a:t>boring naming and formatting</a:t>
            </a:r>
          </a:p>
          <a:p>
            <a:pPr lvl="1"/>
            <a:r>
              <a:rPr dirty="0"/>
              <a:t>correctness before optimization</a:t>
            </a:r>
          </a:p>
          <a:p>
            <a:pPr lvl="1"/>
            <a:r>
              <a:rPr dirty="0"/>
              <a:t>benchmark after the code is defensible</a:t>
            </a:r>
          </a:p>
          <a:p>
            <a:pPr lvl="1"/>
            <a:r>
              <a:rPr dirty="0"/>
              <a:t>code another engineer can read at</a:t>
            </a:r>
            <a:r>
              <a:rPr lang="en-CA" dirty="0"/>
              <a:t> 2am</a:t>
            </a:r>
            <a:endParaRPr dirty="0">
              <a:latin typeface="Courie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86D6DB-063D-5587-30F9-6FA00C9CDDF3}"/>
              </a:ext>
            </a:extLst>
          </p:cNvPr>
          <p:cNvSpPr>
            <a:spLocks noGrp="1"/>
          </p:cNvSpPr>
          <p:nvPr>
            <p:ph type="title"/>
          </p:nvPr>
        </p:nvSpPr>
        <p:spPr/>
        <p:txBody>
          <a:bodyPr/>
          <a:lstStyle/>
          <a:p>
            <a:r>
              <a:rPr lang="en-US" dirty="0"/>
              <a:t>Further Additions</a:t>
            </a:r>
          </a:p>
        </p:txBody>
      </p:sp>
      <p:sp>
        <p:nvSpPr>
          <p:cNvPr id="3" name="Content Placeholder 2">
            <a:extLst>
              <a:ext uri="{FF2B5EF4-FFF2-40B4-BE49-F238E27FC236}">
                <a16:creationId xmlns:a16="http://schemas.microsoft.com/office/drawing/2014/main" id="{7948ABE4-230E-E28A-FBF7-3C3199738F54}"/>
              </a:ext>
            </a:extLst>
          </p:cNvPr>
          <p:cNvSpPr>
            <a:spLocks noGrp="1"/>
          </p:cNvSpPr>
          <p:nvPr>
            <p:ph idx="1"/>
          </p:nvPr>
        </p:nvSpPr>
        <p:spPr/>
        <p:txBody>
          <a:bodyPr/>
          <a:lstStyle/>
          <a:p>
            <a:r>
              <a:rPr lang="en-US" dirty="0"/>
              <a:t>Request scoped </a:t>
            </a:r>
            <a:r>
              <a:rPr lang="en-US" dirty="0" err="1"/>
              <a:t>dedup</a:t>
            </a:r>
            <a:r>
              <a:rPr lang="en-US" dirty="0"/>
              <a:t> / enrichment (Real niche problem, in depth solution)</a:t>
            </a:r>
          </a:p>
          <a:p>
            <a:r>
              <a:rPr lang="en-US" dirty="0"/>
              <a:t>Put It on the cloud</a:t>
            </a:r>
          </a:p>
          <a:p>
            <a:r>
              <a:rPr lang="en-US" dirty="0"/>
              <a:t>Get users</a:t>
            </a:r>
          </a:p>
          <a:p>
            <a:r>
              <a:rPr lang="en-US" dirty="0"/>
              <a:t>Put it on the cloud</a:t>
            </a:r>
          </a:p>
          <a:p>
            <a:r>
              <a:rPr lang="en-US" dirty="0"/>
              <a:t>Take it to competitions</a:t>
            </a:r>
          </a:p>
          <a:p>
            <a:pPr lvl="1"/>
            <a:endParaRPr lang="en-US" dirty="0"/>
          </a:p>
          <a:p>
            <a:pPr lvl="1"/>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26443077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Students Can Build Next</a:t>
            </a:r>
          </a:p>
        </p:txBody>
      </p:sp>
      <p:pic>
        <p:nvPicPr>
          <p:cNvPr id="3" name="Picture 1" descr="assets/extension_tracks.png"/>
          <p:cNvPicPr>
            <a:picLocks noGrp="1" noChangeAspect="1"/>
          </p:cNvPicPr>
          <p:nvPr/>
        </p:nvPicPr>
        <p:blipFill>
          <a:blip r:embed="rId3"/>
          <a:stretch>
            <a:fillRect/>
          </a:stretch>
        </p:blipFill>
        <p:spPr bwMode="auto">
          <a:xfrm>
            <a:off x="596900" y="1600200"/>
            <a:ext cx="7962900" cy="4521200"/>
          </a:xfrm>
          <a:prstGeom prst="rect">
            <a:avLst/>
          </a:prstGeom>
          <a:noFill/>
          <a:ln w="9525">
            <a:noFill/>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1" name="Rectangle 1040">
            <a:extLst>
              <a:ext uri="{FF2B5EF4-FFF2-40B4-BE49-F238E27FC236}">
                <a16:creationId xmlns:a16="http://schemas.microsoft.com/office/drawing/2014/main" id="{ADA216DF-C268-4A25-A2DC-51E15F550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348B34-495F-46EE-0183-761C221D0502}"/>
              </a:ext>
            </a:extLst>
          </p:cNvPr>
          <p:cNvSpPr>
            <a:spLocks noGrp="1"/>
          </p:cNvSpPr>
          <p:nvPr>
            <p:ph type="title"/>
          </p:nvPr>
        </p:nvSpPr>
        <p:spPr>
          <a:xfrm>
            <a:off x="479160" y="4474080"/>
            <a:ext cx="8182230" cy="1065836"/>
          </a:xfrm>
        </p:spPr>
        <p:txBody>
          <a:bodyPr vert="horz" lIns="91440" tIns="45720" rIns="91440" bIns="45720" rtlCol="0" anchor="ctr">
            <a:normAutofit/>
          </a:bodyPr>
          <a:lstStyle/>
          <a:p>
            <a:pPr defTabSz="914400">
              <a:lnSpc>
                <a:spcPct val="90000"/>
              </a:lnSpc>
            </a:pPr>
            <a:r>
              <a:rPr lang="en-US" sz="5700" dirty="0"/>
              <a:t>Q/A Time</a:t>
            </a:r>
          </a:p>
        </p:txBody>
      </p:sp>
      <p:pic>
        <p:nvPicPr>
          <p:cNvPr id="1026" name="Picture 2" descr="Image">
            <a:extLst>
              <a:ext uri="{FF2B5EF4-FFF2-40B4-BE49-F238E27FC236}">
                <a16:creationId xmlns:a16="http://schemas.microsoft.com/office/drawing/2014/main" id="{39565B55-677E-DCEF-0C36-9873584BC13A}"/>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226314" y="446627"/>
            <a:ext cx="2818638" cy="352329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a:extLst>
              <a:ext uri="{FF2B5EF4-FFF2-40B4-BE49-F238E27FC236}">
                <a16:creationId xmlns:a16="http://schemas.microsoft.com/office/drawing/2014/main" id="{079F67B0-12DC-698A-2B7E-0549CABC538C}"/>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3168396" y="446627"/>
            <a:ext cx="2818638" cy="3523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6D5DF651-467A-07D5-2D2B-5CF4D4833576}"/>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6110478" y="446627"/>
            <a:ext cx="2818638" cy="3523298"/>
          </a:xfrm>
          <a:prstGeom prst="rect">
            <a:avLst/>
          </a:prstGeom>
          <a:noFill/>
          <a:extLst>
            <a:ext uri="{909E8E84-426E-40DD-AFC4-6F175D3DCCD1}">
              <a14:hiddenFill xmlns:a14="http://schemas.microsoft.com/office/drawing/2010/main">
                <a:solidFill>
                  <a:srgbClr val="FFFFFF"/>
                </a:solidFill>
              </a14:hiddenFill>
            </a:ext>
          </a:extLst>
        </p:spPr>
      </p:pic>
      <p:sp>
        <p:nvSpPr>
          <p:cNvPr id="1042" name="sketch line">
            <a:extLst>
              <a:ext uri="{FF2B5EF4-FFF2-40B4-BE49-F238E27FC236}">
                <a16:creationId xmlns:a16="http://schemas.microsoft.com/office/drawing/2014/main" id="{DE127D07-37F2-4FE3-9F47-F0CD6740D5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42032" y="5634765"/>
            <a:ext cx="4057650" cy="18288"/>
          </a:xfrm>
          <a:custGeom>
            <a:avLst/>
            <a:gdLst>
              <a:gd name="csX0" fmla="*/ 0 w 4057650"/>
              <a:gd name="csY0" fmla="*/ 0 h 18288"/>
              <a:gd name="csX1" fmla="*/ 757428 w 4057650"/>
              <a:gd name="csY1" fmla="*/ 0 h 18288"/>
              <a:gd name="csX2" fmla="*/ 1474279 w 4057650"/>
              <a:gd name="csY2" fmla="*/ 0 h 18288"/>
              <a:gd name="csX3" fmla="*/ 2191131 w 4057650"/>
              <a:gd name="csY3" fmla="*/ 0 h 18288"/>
              <a:gd name="csX4" fmla="*/ 2745676 w 4057650"/>
              <a:gd name="csY4" fmla="*/ 0 h 18288"/>
              <a:gd name="csX5" fmla="*/ 3340798 w 4057650"/>
              <a:gd name="csY5" fmla="*/ 0 h 18288"/>
              <a:gd name="csX6" fmla="*/ 4057650 w 4057650"/>
              <a:gd name="csY6" fmla="*/ 0 h 18288"/>
              <a:gd name="csX7" fmla="*/ 4057650 w 4057650"/>
              <a:gd name="csY7" fmla="*/ 18288 h 18288"/>
              <a:gd name="csX8" fmla="*/ 3381375 w 4057650"/>
              <a:gd name="csY8" fmla="*/ 18288 h 18288"/>
              <a:gd name="csX9" fmla="*/ 2826830 w 4057650"/>
              <a:gd name="csY9" fmla="*/ 18288 h 18288"/>
              <a:gd name="csX10" fmla="*/ 2272284 w 4057650"/>
              <a:gd name="csY10" fmla="*/ 18288 h 18288"/>
              <a:gd name="csX11" fmla="*/ 1555432 w 4057650"/>
              <a:gd name="csY11" fmla="*/ 18288 h 18288"/>
              <a:gd name="csX12" fmla="*/ 960310 w 4057650"/>
              <a:gd name="csY12" fmla="*/ 18288 h 18288"/>
              <a:gd name="csX13" fmla="*/ 0 w 4057650"/>
              <a:gd name="csY13" fmla="*/ 18288 h 18288"/>
              <a:gd name="csX14" fmla="*/ 0 w 405765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57650" h="18288" fill="none" extrusionOk="0">
                <a:moveTo>
                  <a:pt x="0" y="0"/>
                </a:moveTo>
                <a:cubicBezTo>
                  <a:pt x="371182" y="3227"/>
                  <a:pt x="494372" y="9222"/>
                  <a:pt x="757428" y="0"/>
                </a:cubicBezTo>
                <a:cubicBezTo>
                  <a:pt x="1020484" y="-9222"/>
                  <a:pt x="1116719" y="-4357"/>
                  <a:pt x="1474279" y="0"/>
                </a:cubicBezTo>
                <a:cubicBezTo>
                  <a:pt x="1831839" y="4357"/>
                  <a:pt x="1920973" y="-11809"/>
                  <a:pt x="2191131" y="0"/>
                </a:cubicBezTo>
                <a:cubicBezTo>
                  <a:pt x="2461289" y="11809"/>
                  <a:pt x="2589480" y="-22604"/>
                  <a:pt x="2745676" y="0"/>
                </a:cubicBezTo>
                <a:cubicBezTo>
                  <a:pt x="2901872" y="22604"/>
                  <a:pt x="3136452" y="-12306"/>
                  <a:pt x="3340798" y="0"/>
                </a:cubicBezTo>
                <a:cubicBezTo>
                  <a:pt x="3545144" y="12306"/>
                  <a:pt x="3766934" y="-21556"/>
                  <a:pt x="4057650" y="0"/>
                </a:cubicBezTo>
                <a:cubicBezTo>
                  <a:pt x="4057150" y="8855"/>
                  <a:pt x="4057759" y="14521"/>
                  <a:pt x="4057650" y="18288"/>
                </a:cubicBezTo>
                <a:cubicBezTo>
                  <a:pt x="3743404" y="40125"/>
                  <a:pt x="3625516" y="-14923"/>
                  <a:pt x="3381375" y="18288"/>
                </a:cubicBezTo>
                <a:cubicBezTo>
                  <a:pt x="3137235" y="51499"/>
                  <a:pt x="2946571" y="1"/>
                  <a:pt x="2826830" y="18288"/>
                </a:cubicBezTo>
                <a:cubicBezTo>
                  <a:pt x="2707090" y="36575"/>
                  <a:pt x="2402756" y="1432"/>
                  <a:pt x="2272284" y="18288"/>
                </a:cubicBezTo>
                <a:cubicBezTo>
                  <a:pt x="2141812" y="35144"/>
                  <a:pt x="1895935" y="18199"/>
                  <a:pt x="1555432" y="18288"/>
                </a:cubicBezTo>
                <a:cubicBezTo>
                  <a:pt x="1214929" y="18377"/>
                  <a:pt x="1103072" y="14503"/>
                  <a:pt x="960310" y="18288"/>
                </a:cubicBezTo>
                <a:cubicBezTo>
                  <a:pt x="817548" y="22073"/>
                  <a:pt x="402272" y="-29359"/>
                  <a:pt x="0" y="18288"/>
                </a:cubicBezTo>
                <a:cubicBezTo>
                  <a:pt x="683" y="12014"/>
                  <a:pt x="724" y="5908"/>
                  <a:pt x="0" y="0"/>
                </a:cubicBezTo>
                <a:close/>
              </a:path>
              <a:path w="4057650" h="18288" stroke="0" extrusionOk="0">
                <a:moveTo>
                  <a:pt x="0" y="0"/>
                </a:moveTo>
                <a:cubicBezTo>
                  <a:pt x="248348" y="13145"/>
                  <a:pt x="486117" y="25042"/>
                  <a:pt x="635698" y="0"/>
                </a:cubicBezTo>
                <a:cubicBezTo>
                  <a:pt x="785279" y="-25042"/>
                  <a:pt x="917762" y="-5537"/>
                  <a:pt x="1190244" y="0"/>
                </a:cubicBezTo>
                <a:cubicBezTo>
                  <a:pt x="1462726" y="5537"/>
                  <a:pt x="1667120" y="-21232"/>
                  <a:pt x="1947672" y="0"/>
                </a:cubicBezTo>
                <a:cubicBezTo>
                  <a:pt x="2228224" y="21232"/>
                  <a:pt x="2280631" y="-21698"/>
                  <a:pt x="2583370" y="0"/>
                </a:cubicBezTo>
                <a:cubicBezTo>
                  <a:pt x="2886109" y="21698"/>
                  <a:pt x="3022941" y="19647"/>
                  <a:pt x="3219069" y="0"/>
                </a:cubicBezTo>
                <a:cubicBezTo>
                  <a:pt x="3415197" y="-19647"/>
                  <a:pt x="3747500" y="26991"/>
                  <a:pt x="4057650" y="0"/>
                </a:cubicBezTo>
                <a:cubicBezTo>
                  <a:pt x="4056752" y="7180"/>
                  <a:pt x="4057819" y="13790"/>
                  <a:pt x="4057650" y="18288"/>
                </a:cubicBezTo>
                <a:cubicBezTo>
                  <a:pt x="3865148" y="-3313"/>
                  <a:pt x="3702543" y="49468"/>
                  <a:pt x="3381375" y="18288"/>
                </a:cubicBezTo>
                <a:cubicBezTo>
                  <a:pt x="3060208" y="-12892"/>
                  <a:pt x="2956571" y="-8678"/>
                  <a:pt x="2826830" y="18288"/>
                </a:cubicBezTo>
                <a:cubicBezTo>
                  <a:pt x="2697089" y="45254"/>
                  <a:pt x="2411031" y="43154"/>
                  <a:pt x="2150555" y="18288"/>
                </a:cubicBezTo>
                <a:cubicBezTo>
                  <a:pt x="1890080" y="-6578"/>
                  <a:pt x="1741827" y="-615"/>
                  <a:pt x="1474280" y="18288"/>
                </a:cubicBezTo>
                <a:cubicBezTo>
                  <a:pt x="1206734" y="37191"/>
                  <a:pt x="998203" y="33335"/>
                  <a:pt x="838581" y="18288"/>
                </a:cubicBezTo>
                <a:cubicBezTo>
                  <a:pt x="678959" y="3241"/>
                  <a:pt x="187101" y="-13212"/>
                  <a:pt x="0" y="18288"/>
                </a:cubicBezTo>
                <a:cubicBezTo>
                  <a:pt x="571" y="10093"/>
                  <a:pt x="-125" y="840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75331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2684</Words>
  <Application>Microsoft Macintosh PowerPoint</Application>
  <PresentationFormat>On-screen Show (4:3)</PresentationFormat>
  <Paragraphs>223</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vt:lpstr>
      <vt:lpstr>Office Theme</vt:lpstr>
      <vt:lpstr>PerfMap</vt:lpstr>
      <vt:lpstr>Quick Room Check</vt:lpstr>
      <vt:lpstr>What Makes A Project Stand Out In 2026</vt:lpstr>
      <vt:lpstr>Weak Projects</vt:lpstr>
      <vt:lpstr>Where Good Project Ideas Usually Come From</vt:lpstr>
      <vt:lpstr>Starter Repo For Attendees</vt:lpstr>
      <vt:lpstr>What PerfMap Actually Is</vt:lpstr>
      <vt:lpstr>Why PerfMap Is A Good Workshop Project</vt:lpstr>
      <vt:lpstr>One Repo, Multiple Workloads</vt:lpstr>
      <vt:lpstr>Try it out yourself!</vt:lpstr>
      <vt:lpstr>Live Demo Plan</vt:lpstr>
      <vt:lpstr>Results</vt:lpstr>
      <vt:lpstr>The Winning Workload Story</vt:lpstr>
      <vt:lpstr>Google-Style C++</vt:lpstr>
      <vt:lpstr>Further Additions</vt:lpstr>
      <vt:lpstr>What Students Can Build Next</vt:lpstr>
      <vt:lpstr>Q/A Time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Office PowerPoint</Application>
  <PresentationFormat>On-screen Show (4:3)</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PerfMap</dc:title>
  <dc:creator>Diar Shakimov | SFU GDSC</dc:creator>
  <cp:keywords/>
  <cp:lastModifiedBy>Diar Shakimov</cp:lastModifiedBy>
  <cp:revision>1</cp:revision>
  <dcterms:created xsi:type="dcterms:W3CDTF">2026-03-31T21:52:12Z</dcterms:created>
  <dcterms:modified xsi:type="dcterms:W3CDTF">2026-03-31T23:58:07Z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March 31, 2026</vt:lpwstr>
  </property>
  <property fmtid="{D5CDD505-2E9C-101B-9397-08002B2CF9AE}" pid="3" name="subtitle">
    <vt:lpwstr>A Google-Style C++ Performance Workshop</vt:lpwstr>
  </property>
</Properties>
</file>