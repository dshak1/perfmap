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framing the workshop as a systems project, not a toy data-structures lecture. The pitch is that students leave with code, benchmarks, and a story they can defend in interviews. Mention the date as March 10, 2026 and avoid reading out a specific time until the event logistics are finalized.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you can talk about recruiter fatigue and the Claude era without sounding cynical. The key message is not “AI bad”; it is “measurable engineering work stands out.”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brisk. It tells the audience there is a beginning, a measurable middle, and a concrete next step.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good place to tie outcomes back to co-op search, networking, and interview prep.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get lost in every method signature yet. What matters here is that the repo has enough substance to discuss architecture, correctness, and optimization.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this to contrast pointer chasing with contiguous storage. Say explicitly that </a:t>
            </a:r>
            <a:r>
              <a:rPr>
                <a:latin typeface="Courier"/>
              </a:rPr>
              <a:t>std::unordered_map</a:t>
            </a:r>
            <a:r>
              <a:rPr/>
              <a:t> is not “bad”; it has different trade-offs and better miss behavior in this benchmark.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numbers come directly from </a:t>
            </a:r>
            <a:r>
              <a:rPr>
                <a:latin typeface="Courier"/>
              </a:rPr>
              <a:t>project/perfmap/docs/RESULTS.md</a:t>
            </a:r>
            <a:r>
              <a:rPr/>
              <a:t>. Say that the miss path is not a flaw to hide; it is exactly the kind of trade-off that makes the project credible.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direct bridge into your Google-style C++ explanation. If you want, show one short snippet live instead of overloading the slide.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best teaching moment is the tombstone invariant and the </a:t>
            </a:r>
            <a:r>
              <a:rPr>
                <a:latin typeface="Courier"/>
              </a:rPr>
              <a:t>FindPtr()</a:t>
            </a:r>
            <a:r>
              <a:rPr/>
              <a:t> fast-path lesson. That gives students both a data-structure concept and a performance-engineering concept.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you want cloud credits or merch as prizes, this slide gives the cleanest justification: students can extend into real cloud infra after the workshop.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angle is stronger than “I used AI somehow.” It connects the project to recommendation systems, retrieval, and inference serving without leaving systems territory.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path for the strongest low-level students. You can point out that even if they only implement one of these well, the project becomes much more unique.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where you can mention merch, stickers, cloud credits, or repost incentives if those get confirmed. Keep the criteria measurable so the extensions do not turn into vague feature dumping.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your handoff slide into the panel or Q&amp;A section. End by reinforcing that measurable, explainable engineering is the meta-skill.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PerfMap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 Google-Style C++ Performance Workshop</a:t>
            </a:r>
            <a:br/>
            <a:br/>
            <a:r>
              <a:rPr/>
              <a:t>Diar Shakimov | SFU GDSC</a:t>
            </a:r>
          </a:p>
        </p:txBody>
      </p:sp>
      <p:sp>
        <p:nvSpPr>
          <p:cNvPr id="4" name="Date Placeholder 3"/>
          <p:cNvSpPr>
            <a:spLocks noGrp="1"/>
          </p:cNvSpPr>
          <p:nvPr>
            <p:ph idx="10" sz="half" type="dt"/>
          </p:nvPr>
        </p:nvSpPr>
        <p:spPr/>
        <p:txBody>
          <a:bodyPr/>
          <a:lstStyle/>
          <a:p>
            <a:pPr lvl="0" indent="0" marL="0">
              <a:buNone/>
            </a:pPr>
            <a:r>
              <a:rPr/>
              <a:t>March 10,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One-Line Pitch</a:t>
            </a:r>
          </a:p>
        </p:txBody>
      </p:sp>
      <p:sp>
        <p:nvSpPr>
          <p:cNvPr id="3" name="Content Placeholder 2"/>
          <p:cNvSpPr>
            <a:spLocks noGrp="1"/>
          </p:cNvSpPr>
          <p:nvPr>
            <p:ph idx="1"/>
          </p:nvPr>
        </p:nvSpPr>
        <p:spPr/>
        <p:txBody>
          <a:bodyPr/>
          <a:lstStyle/>
          <a:p>
            <a:pPr lvl="0" indent="0" marL="0">
              <a:buNone/>
            </a:pPr>
            <a:r>
              <a:rPr/>
              <a:t>Build a cache-aware hash map that can beat </a:t>
            </a:r>
            <a:r>
              <a:rPr>
                <a:latin typeface="Courier"/>
              </a:rPr>
              <a:t>std::unordered_map</a:t>
            </a:r>
            <a:r>
              <a:rPr/>
              <a:t> on real workloads.</a:t>
            </a:r>
          </a:p>
          <a:p>
            <a:pPr lvl="0"/>
            <a:r>
              <a:rPr/>
              <a:t>Google-style C++</a:t>
            </a:r>
          </a:p>
          <a:p>
            <a:pPr lvl="0"/>
            <a:r>
              <a:rPr/>
              <a:t>Google Benchmark + Google Test + Abseil</a:t>
            </a:r>
          </a:p>
          <a:p>
            <a:pPr lvl="0"/>
            <a:r>
              <a:rPr/>
              <a:t>Strong resume bullet with measurable results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 Works In 2026</a:t>
            </a:r>
          </a:p>
        </p:txBody>
      </p:sp>
      <p:sp>
        <p:nvSpPr>
          <p:cNvPr id="3" name="Content Placeholder 2"/>
          <p:cNvSpPr>
            <a:spLocks noGrp="1"/>
          </p:cNvSpPr>
          <p:nvPr>
            <p:ph idx="1"/>
          </p:nvPr>
        </p:nvSpPr>
        <p:spPr/>
        <p:txBody>
          <a:bodyPr/>
          <a:lstStyle/>
          <a:p>
            <a:pPr lvl="0"/>
            <a:r>
              <a:rPr/>
              <a:t>Generic CRUD apps are cheap to generate.</a:t>
            </a:r>
          </a:p>
          <a:p>
            <a:pPr lvl="0"/>
            <a:r>
              <a:rPr/>
              <a:t>Benchmark numbers are much harder to fake.</a:t>
            </a:r>
          </a:p>
          <a:p>
            <a:pPr lvl="0"/>
            <a:r>
              <a:rPr>
                <a:latin typeface="Courier"/>
              </a:rPr>
              <a:t>perfmap</a:t>
            </a:r>
            <a:r>
              <a:rPr/>
              <a:t> forces students to explain cache locality, memory layout, and trade-offs.</a:t>
            </a:r>
          </a:p>
          <a:p>
            <a:pPr lvl="0"/>
            <a:r>
              <a:rPr/>
              <a:t>It is Google-relevant, technically deep, and easy to extend after the workshop.</a:t>
            </a:r>
          </a:p>
          <a:p>
            <a:pPr lvl="0" indent="0" marL="0">
              <a:buNone/>
            </a:pPr>
            <a:r>
              <a:rPr b="1"/>
              <a:t>Translation for resumes:</a:t>
            </a:r>
            <a:r>
              <a:rPr/>
              <a:t> one repo can become systems, cloud, or ML infra depending on the direction you take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Workshop Flow</a:t>
            </a:r>
          </a:p>
        </p:txBody>
      </p:sp>
      <p:sp>
        <p:nvSpPr>
          <p:cNvPr id="3" name="Content Placeholder 2"/>
          <p:cNvSpPr>
            <a:spLocks noGrp="1"/>
          </p:cNvSpPr>
          <p:nvPr>
            <p:ph idx="1"/>
          </p:nvPr>
        </p:nvSpPr>
        <p:spPr/>
        <p:txBody>
          <a:bodyPr/>
          <a:lstStyle/>
          <a:p>
            <a:pPr lvl="0" indent="-342900" marL="342900">
              <a:buAutoNum type="arabicPeriod"/>
            </a:pPr>
            <a:r>
              <a:rPr/>
              <a:t>Build and run the repo.</a:t>
            </a:r>
          </a:p>
          <a:p>
            <a:pPr lvl="0" indent="-342900" marL="342900">
              <a:buAutoNum type="arabicPeriod"/>
            </a:pPr>
            <a:r>
              <a:rPr/>
              <a:t>Understand the data structure and its design choices.</a:t>
            </a:r>
          </a:p>
          <a:p>
            <a:pPr lvl="0" indent="-342900" marL="342900">
              <a:buAutoNum type="arabicPeriod"/>
            </a:pPr>
            <a:r>
              <a:rPr/>
              <a:t>Run tests, benchmarks, and explain the wins and losses.</a:t>
            </a:r>
          </a:p>
          <a:p>
            <a:pPr lvl="0" indent="-342900" marL="342900">
              <a:buAutoNum type="arabicPeriod"/>
            </a:pPr>
            <a:r>
              <a:rPr/>
              <a:t>Show three serious ways to extend the project.</a:t>
            </a:r>
          </a:p>
          <a:p>
            <a:pPr lvl="0" indent="-342900" marL="342900">
              <a:buAutoNum type="arabicPeriod"/>
            </a:pPr>
            <a:r>
              <a:rPr/>
              <a:t>Hand off to mock interview and guest Q&amp;A.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Attendees Leave With</a:t>
            </a:r>
          </a:p>
        </p:txBody>
      </p:sp>
      <p:sp>
        <p:nvSpPr>
          <p:cNvPr id="3" name="Content Placeholder 2"/>
          <p:cNvSpPr>
            <a:spLocks noGrp="1"/>
          </p:cNvSpPr>
          <p:nvPr>
            <p:ph idx="1"/>
          </p:nvPr>
        </p:nvSpPr>
        <p:spPr/>
        <p:txBody>
          <a:bodyPr/>
          <a:lstStyle/>
          <a:p>
            <a:pPr lvl="0"/>
            <a:r>
              <a:rPr/>
              <a:t>A niche C++ project they can actually talk about</a:t>
            </a:r>
          </a:p>
          <a:p>
            <a:pPr lvl="0"/>
            <a:r>
              <a:rPr/>
              <a:t>A repo using </a:t>
            </a:r>
            <a:r>
              <a:rPr>
                <a:latin typeface="Courier"/>
              </a:rPr>
              <a:t>cmake</a:t>
            </a:r>
            <a:r>
              <a:rPr/>
              <a:t>, Google Test, Google Benchmark, Abseil, and Google-style conventions</a:t>
            </a:r>
          </a:p>
          <a:p>
            <a:pPr lvl="0"/>
            <a:r>
              <a:rPr/>
              <a:t>A benchmark-backed resume bullet</a:t>
            </a:r>
          </a:p>
          <a:p>
            <a:pPr lvl="0"/>
            <a:r>
              <a:rPr/>
              <a:t>A roadmap for a post-workshop mini hackathon or personal extension</a:t>
            </a:r>
          </a:p>
          <a:p>
            <a:pPr lvl="0" indent="0" marL="0">
              <a:buNone/>
            </a:pPr>
            <a:r>
              <a:rPr b="1"/>
              <a:t>Better than saying “I built a data structure”:</a:t>
            </a:r>
            <a:r>
              <a:rPr/>
              <a:t> say what you measured, what trade-off you found, and what you improved next.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PerfMap Actually Is</a:t>
            </a:r>
          </a:p>
        </p:txBody>
      </p:sp>
      <p:sp>
        <p:nvSpPr>
          <p:cNvPr id="3" name="Content Placeholder 2"/>
          <p:cNvSpPr>
            <a:spLocks noGrp="1"/>
          </p:cNvSpPr>
          <p:nvPr>
            <p:ph idx="1"/>
          </p:nvPr>
        </p:nvSpPr>
        <p:spPr/>
        <p:txBody>
          <a:bodyPr/>
          <a:lstStyle/>
          <a:p>
            <a:pPr lvl="0"/>
            <a:r>
              <a:rPr/>
              <a:t>Open-addressing hash map in C++17</a:t>
            </a:r>
          </a:p>
          <a:p>
            <a:pPr lvl="0"/>
            <a:r>
              <a:rPr/>
              <a:t>Flat </a:t>
            </a:r>
            <a:r>
              <a:rPr>
                <a:latin typeface="Courier"/>
              </a:rPr>
              <a:t>std::vector&lt;Slot&gt;</a:t>
            </a:r>
            <a:r>
              <a:rPr/>
              <a:t> storage for better locality</a:t>
            </a:r>
          </a:p>
          <a:p>
            <a:pPr lvl="0"/>
            <a:r>
              <a:rPr/>
              <a:t>Linear probing plus tombstone-aware deletion</a:t>
            </a:r>
          </a:p>
          <a:p>
            <a:pPr lvl="0"/>
            <a:r>
              <a:rPr/>
              <a:t>Power-of-two capacity and bitmask indexing</a:t>
            </a:r>
          </a:p>
          <a:p>
            <a:pPr lvl="0"/>
            <a:r>
              <a:rPr>
                <a:latin typeface="Courier"/>
              </a:rPr>
              <a:t>absl::Status</a:t>
            </a:r>
            <a:r>
              <a:rPr/>
              <a:t> / </a:t>
            </a:r>
            <a:r>
              <a:rPr>
                <a:latin typeface="Courier"/>
              </a:rPr>
              <a:t>absl::StatusOr</a:t>
            </a:r>
            <a:r>
              <a:rPr/>
              <a:t> API plus </a:t>
            </a:r>
            <a:r>
              <a:rPr>
                <a:latin typeface="Courier"/>
              </a:rPr>
              <a:t>FindPtr()</a:t>
            </a:r>
            <a:r>
              <a:rPr/>
              <a:t> zero-allocation fast path</a:t>
            </a:r>
          </a:p>
          <a:p>
            <a:pPr lvl="0" indent="0" marL="0">
              <a:buNone/>
            </a:pPr>
            <a:r>
              <a:rPr b="1"/>
              <a:t>Core lesson:</a:t>
            </a:r>
            <a:r>
              <a:rPr/>
              <a:t> modern performance work is often about memory behavior, not just asymptotic complexity.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 Can Beat The STL</a:t>
            </a:r>
          </a:p>
        </p:txBody>
      </p:sp>
      <p:pic>
        <p:nvPicPr>
          <p:cNvPr descr="assets/memory_layout.png" id="0" name="Picture 1"/>
          <p:cNvPicPr>
            <a:picLocks noGrp="1" noChangeAspect="1"/>
          </p:cNvPicPr>
          <p:nvPr/>
        </p:nvPicPr>
        <p:blipFill>
          <a:blip r:embed="rId3"/>
          <a:stretch>
            <a:fillRect/>
          </a:stretch>
        </p:blipFill>
        <p:spPr bwMode="auto">
          <a:xfrm>
            <a:off x="1587500" y="1193800"/>
            <a:ext cx="5969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Benchmarks: The Part Recruiters Remember</a:t>
            </a:r>
          </a:p>
        </p:txBody>
      </p:sp>
      <p:pic>
        <p:nvPicPr>
          <p:cNvPr descr="assets/benchmark_summary.png" id="0" name="Picture 1"/>
          <p:cNvPicPr>
            <a:picLocks noGrp="1" noChangeAspect="1"/>
          </p:cNvPicPr>
          <p:nvPr/>
        </p:nvPicPr>
        <p:blipFill>
          <a:blip r:embed="rId2"/>
          <a:stretch>
            <a:fillRect/>
          </a:stretch>
        </p:blipFill>
        <p:spPr bwMode="auto">
          <a:xfrm>
            <a:off x="1612900" y="1193800"/>
            <a:ext cx="5918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Insert: </a:t>
            </a:r>
            <a:r>
              <a:rPr>
                <a:latin typeface="Courier"/>
              </a:rPr>
              <a:t>2.0x</a:t>
            </a:r>
            <a:r>
              <a:rPr/>
              <a:t> to </a:t>
            </a:r>
            <a:r>
              <a:rPr>
                <a:latin typeface="Courier"/>
              </a:rPr>
              <a:t>4.0x</a:t>
            </a:r>
            <a:r>
              <a:rPr/>
              <a:t> faster</a:t>
            </a:r>
          </a:p>
          <a:p>
            <a:pPr lvl="0"/>
            <a:r>
              <a:rPr/>
              <a:t>Erase: </a:t>
            </a:r>
            <a:r>
              <a:rPr>
                <a:latin typeface="Courier"/>
              </a:rPr>
              <a:t>6.4x</a:t>
            </a:r>
            <a:r>
              <a:rPr/>
              <a:t> to </a:t>
            </a:r>
            <a:r>
              <a:rPr>
                <a:latin typeface="Courier"/>
              </a:rPr>
              <a:t>8.0x</a:t>
            </a:r>
            <a:r>
              <a:rPr/>
              <a:t> faster</a:t>
            </a:r>
          </a:p>
          <a:p>
            <a:pPr lvl="0"/>
            <a:r>
              <a:rPr/>
              <a:t>Mixed workload: </a:t>
            </a:r>
            <a:r>
              <a:rPr>
                <a:latin typeface="Courier"/>
              </a:rPr>
              <a:t>1.7x</a:t>
            </a:r>
            <a:r>
              <a:rPr/>
              <a:t> to </a:t>
            </a:r>
            <a:r>
              <a:rPr>
                <a:latin typeface="Courier"/>
              </a:rPr>
              <a:t>3.5x</a:t>
            </a:r>
            <a:r>
              <a:rPr/>
              <a:t> faster</a:t>
            </a:r>
          </a:p>
          <a:p>
            <a:pPr lvl="0"/>
            <a:r>
              <a:rPr/>
              <a:t>Miss lookups: still worse, which is the most interesting trade-off to discuss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Google-Style C++ Angle</a:t>
            </a:r>
          </a:p>
        </p:txBody>
      </p:sp>
      <p:sp>
        <p:nvSpPr>
          <p:cNvPr id="3" name="Content Placeholder 2"/>
          <p:cNvSpPr>
            <a:spLocks noGrp="1"/>
          </p:cNvSpPr>
          <p:nvPr>
            <p:ph idx="1"/>
          </p:nvPr>
        </p:nvSpPr>
        <p:spPr/>
        <p:txBody>
          <a:bodyPr/>
          <a:lstStyle/>
          <a:p>
            <a:pPr lvl="0"/>
            <a:r>
              <a:rPr/>
              <a:t>Optimize for readability, maintainability, and team scale</a:t>
            </a:r>
          </a:p>
          <a:p>
            <a:pPr lvl="0"/>
            <a:r>
              <a:rPr/>
              <a:t>Prefer explicit error handling over cleverness</a:t>
            </a:r>
          </a:p>
          <a:p>
            <a:pPr lvl="0"/>
            <a:r>
              <a:rPr/>
              <a:t>Keep naming, formatting, and file structure boring and consistent</a:t>
            </a:r>
          </a:p>
          <a:p>
            <a:pPr lvl="0"/>
            <a:r>
              <a:rPr/>
              <a:t>Test correctness before chasing speed</a:t>
            </a:r>
          </a:p>
          <a:p>
            <a:pPr lvl="0"/>
            <a:r>
              <a:rPr/>
              <a:t>Benchmark only after the implementation is defensible</a:t>
            </a:r>
          </a:p>
          <a:p>
            <a:pPr lvl="0" indent="0" marL="0">
              <a:buNone/>
            </a:pPr>
            <a:r>
              <a:rPr b="1"/>
              <a:t>The vibe:</a:t>
            </a:r>
            <a:r>
              <a:rPr/>
              <a:t> not “fancy C++”, but “obvious C++ another engineer can debug at 2 a.m.”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Demo Plan</a:t>
            </a:r>
          </a:p>
        </p:txBody>
      </p:sp>
      <p:sp>
        <p:nvSpPr>
          <p:cNvPr id="3" name="Content Placeholder 2"/>
          <p:cNvSpPr>
            <a:spLocks noGrp="1"/>
          </p:cNvSpPr>
          <p:nvPr>
            <p:ph idx="1"/>
          </p:nvPr>
        </p:nvSpPr>
        <p:spPr/>
        <p:txBody>
          <a:bodyPr/>
          <a:lstStyle/>
          <a:p>
            <a:pPr lvl="0" indent="0">
              <a:buNone/>
            </a:pPr>
            <a:r>
              <a:rPr>
                <a:solidFill>
                  <a:srgbClr val="008000"/>
                </a:solidFill>
                <a:latin typeface="Courier"/>
              </a:rPr>
              <a:t>cd</a:t>
            </a:r>
            <a:r>
              <a:rPr>
                <a:latin typeface="Courier"/>
              </a:rPr>
              <a:t> project/perfmap/build</a:t>
            </a:r>
            <a:br/>
            <a:r>
              <a:rPr>
                <a:solidFill>
                  <a:srgbClr val="06287E"/>
                </a:solidFill>
                <a:latin typeface="Courier"/>
              </a:rPr>
              <a:t>cmake</a:t>
            </a:r>
            <a:r>
              <a:rPr>
                <a:latin typeface="Courier"/>
              </a:rPr>
              <a:t> .. </a:t>
            </a:r>
            <a:r>
              <a:rPr>
                <a:solidFill>
                  <a:srgbClr val="7D9029"/>
                </a:solidFill>
                <a:latin typeface="Courier"/>
              </a:rPr>
              <a:t>-DCMAKE_BUILD_TYPE</a:t>
            </a:r>
            <a:r>
              <a:rPr>
                <a:solidFill>
                  <a:srgbClr val="666666"/>
                </a:solidFill>
                <a:latin typeface="Courier"/>
              </a:rPr>
              <a:t>=</a:t>
            </a:r>
            <a:r>
              <a:rPr>
                <a:latin typeface="Courier"/>
              </a:rPr>
              <a:t>Release</a:t>
            </a:r>
            <a:br/>
            <a:r>
              <a:rPr>
                <a:solidFill>
                  <a:srgbClr val="06287E"/>
                </a:solidFill>
                <a:latin typeface="Courier"/>
              </a:rPr>
              <a:t>make</a:t>
            </a:r>
            <a:r>
              <a:rPr>
                <a:latin typeface="Courier"/>
              </a:rPr>
              <a:t> </a:t>
            </a:r>
            <a:r>
              <a:rPr>
                <a:solidFill>
                  <a:srgbClr val="7D9029"/>
                </a:solidFill>
                <a:latin typeface="Courier"/>
              </a:rPr>
              <a:t>-j8</a:t>
            </a:r>
            <a:br/>
            <a:r>
              <a:rPr>
                <a:latin typeface="Courier"/>
              </a:rPr>
              <a:t>./perfmap_tests</a:t>
            </a:r>
            <a:br/>
            <a:r>
              <a:rPr>
                <a:latin typeface="Courier"/>
              </a:rPr>
              <a:t>./perfmap_bench</a:t>
            </a:r>
          </a:p>
          <a:p>
            <a:pPr lvl="0"/>
            <a:r>
              <a:rPr/>
              <a:t>Walk through </a:t>
            </a:r>
            <a:r>
              <a:rPr>
                <a:latin typeface="Courier"/>
              </a:rPr>
              <a:t>slot.h</a:t>
            </a:r>
            <a:r>
              <a:rPr/>
              <a:t>, </a:t>
            </a:r>
            <a:r>
              <a:rPr>
                <a:latin typeface="Courier"/>
              </a:rPr>
              <a:t>hash_map.h</a:t>
            </a:r>
            <a:r>
              <a:rPr/>
              <a:t>, tests, and benchmarks</a:t>
            </a:r>
          </a:p>
          <a:p>
            <a:pPr lvl="0"/>
            <a:r>
              <a:rPr/>
              <a:t>Ask the room why tombstones exist before revealing the answer</a:t>
            </a:r>
          </a:p>
          <a:p>
            <a:pPr lvl="0"/>
            <a:r>
              <a:rPr/>
              <a:t>Show how a tiny API choice like </a:t>
            </a:r>
            <a:r>
              <a:rPr>
                <a:latin typeface="Courier"/>
              </a:rPr>
              <a:t>FindPtr()</a:t>
            </a:r>
            <a:r>
              <a:rPr/>
              <a:t> changes performance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Extension Track 1: AWS / DevOps</a:t>
            </a:r>
          </a:p>
        </p:txBody>
      </p:sp>
      <p:sp>
        <p:nvSpPr>
          <p:cNvPr id="3" name="Content Placeholder 2"/>
          <p:cNvSpPr>
            <a:spLocks noGrp="1"/>
          </p:cNvSpPr>
          <p:nvPr>
            <p:ph idx="1"/>
          </p:nvPr>
        </p:nvSpPr>
        <p:spPr/>
        <p:txBody>
          <a:bodyPr/>
          <a:lstStyle/>
          <a:p>
            <a:pPr lvl="0"/>
            <a:r>
              <a:rPr/>
              <a:t>Containerize the benchmark runner for reproducible builds</a:t>
            </a:r>
          </a:p>
          <a:p>
            <a:pPr lvl="0"/>
            <a:r>
              <a:rPr/>
              <a:t>Run scheduled benchmarks on GitHub Actions plus EC2 or Graviton instances</a:t>
            </a:r>
          </a:p>
          <a:p>
            <a:pPr lvl="0"/>
            <a:r>
              <a:rPr/>
              <a:t>Store JSON benchmark history in S3 and surface regressions on a dashboard</a:t>
            </a:r>
          </a:p>
          <a:p>
            <a:pPr lvl="0"/>
            <a:r>
              <a:rPr/>
              <a:t>Add perf regression gates so slowdowns fail CI</a:t>
            </a:r>
          </a:p>
          <a:p>
            <a:pPr lvl="0"/>
            <a:r>
              <a:rPr/>
              <a:t>Wrap </a:t>
            </a:r>
            <a:r>
              <a:rPr>
                <a:latin typeface="Courier"/>
              </a:rPr>
              <a:t>perfmap</a:t>
            </a:r>
            <a:r>
              <a:rPr/>
              <a:t> in a tiny key-value service and load-test it</a:t>
            </a:r>
          </a:p>
          <a:p>
            <a:pPr lvl="0" indent="0" marL="0">
              <a:buNone/>
            </a:pPr>
            <a:r>
              <a:rPr b="1"/>
              <a:t>Resume angle:</a:t>
            </a:r>
            <a:r>
              <a:rPr/>
              <a:t> “Built a performance regression pipeline and benchmark service, not just a local data structure.”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Extension Track 2: Low-Level AI / ML Systems</a:t>
            </a:r>
          </a:p>
        </p:txBody>
      </p:sp>
      <p:sp>
        <p:nvSpPr>
          <p:cNvPr id="3" name="Content Placeholder 2"/>
          <p:cNvSpPr>
            <a:spLocks noGrp="1"/>
          </p:cNvSpPr>
          <p:nvPr>
            <p:ph idx="1"/>
          </p:nvPr>
        </p:nvSpPr>
        <p:spPr/>
        <p:txBody>
          <a:bodyPr/>
          <a:lstStyle/>
          <a:p>
            <a:pPr lvl="0"/>
            <a:r>
              <a:rPr/>
              <a:t>Use </a:t>
            </a:r>
            <a:r>
              <a:rPr>
                <a:latin typeface="Courier"/>
              </a:rPr>
              <a:t>perfmap</a:t>
            </a:r>
            <a:r>
              <a:rPr/>
              <a:t> as a hot-key cache for feature serving or inference metadata</a:t>
            </a:r>
          </a:p>
          <a:p>
            <a:pPr lvl="0"/>
            <a:r>
              <a:rPr/>
              <a:t>Simulate AI-serving access patterns: repeated hot keys, bursty misses, skewed distributions</a:t>
            </a:r>
          </a:p>
          <a:p>
            <a:pPr lvl="0"/>
            <a:r>
              <a:rPr/>
              <a:t>Compare scalar probing against SIMD-friendly probing on those workloads</a:t>
            </a:r>
          </a:p>
          <a:p>
            <a:pPr lvl="0"/>
            <a:r>
              <a:rPr/>
              <a:t>Track p50, p95, and p99 latency rather than just average throughput</a:t>
            </a:r>
          </a:p>
          <a:p>
            <a:pPr lvl="0"/>
            <a:r>
              <a:rPr/>
              <a:t>Turn it into a tiny “ML systems” repo without needing to train a giant model</a:t>
            </a:r>
          </a:p>
          <a:p>
            <a:pPr lvl="0" indent="0" marL="0">
              <a:buNone/>
            </a:pPr>
            <a:r>
              <a:rPr b="1"/>
              <a:t>Pitch:</a:t>
            </a:r>
            <a:r>
              <a:rPr/>
              <a:t> a lot of ML infra is memory systems, lookup paths, and latency budgets.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Extension Track 3: Advanced Performance C++</a:t>
            </a:r>
          </a:p>
        </p:txBody>
      </p:sp>
      <p:sp>
        <p:nvSpPr>
          <p:cNvPr id="3" name="Content Placeholder 2"/>
          <p:cNvSpPr>
            <a:spLocks noGrp="1"/>
          </p:cNvSpPr>
          <p:nvPr>
            <p:ph idx="1"/>
          </p:nvPr>
        </p:nvSpPr>
        <p:spPr/>
        <p:txBody>
          <a:bodyPr/>
          <a:lstStyle/>
          <a:p>
            <a:pPr lvl="0"/>
            <a:r>
              <a:rPr/>
              <a:t>Robin Hood hashing to reduce probe-length variance</a:t>
            </a:r>
          </a:p>
          <a:p>
            <a:pPr lvl="0"/>
            <a:r>
              <a:rPr/>
              <a:t>SwissTable-style metadata bytes for faster filtering</a:t>
            </a:r>
          </a:p>
          <a:p>
            <a:pPr lvl="0"/>
            <a:r>
              <a:rPr/>
              <a:t>SIMD or NEON probing for multiple control bytes at once</a:t>
            </a:r>
          </a:p>
          <a:p>
            <a:pPr lvl="0"/>
            <a:r>
              <a:rPr/>
              <a:t>Custom allocators and prefetch experiments</a:t>
            </a:r>
          </a:p>
          <a:p>
            <a:pPr lvl="0"/>
            <a:r>
              <a:rPr/>
              <a:t>Sharded or concurrent variants with lock striping</a:t>
            </a:r>
          </a:p>
          <a:p>
            <a:pPr lvl="0" indent="0" marL="0">
              <a:buNone/>
            </a:pPr>
            <a:r>
              <a:rPr b="1"/>
              <a:t>Interview angle:</a:t>
            </a:r>
            <a:r>
              <a:rPr/>
              <a:t> now the project becomes a platform for discussing CPU caches, branch prediction, and memory layout decisions.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Serious Mini Hackathon Prompt</a:t>
            </a:r>
          </a:p>
        </p:txBody>
      </p:sp>
      <p:sp>
        <p:nvSpPr>
          <p:cNvPr id="3" name="Content Placeholder 2"/>
          <p:cNvSpPr>
            <a:spLocks noGrp="1"/>
          </p:cNvSpPr>
          <p:nvPr>
            <p:ph idx="1"/>
          </p:nvPr>
        </p:nvSpPr>
        <p:spPr/>
        <p:txBody>
          <a:bodyPr/>
          <a:lstStyle/>
          <a:p>
            <a:pPr lvl="0" indent="0" marL="0">
              <a:buNone/>
            </a:pPr>
            <a:r>
              <a:rPr b="1"/>
              <a:t>Challenge:</a:t>
            </a:r>
            <a:r>
              <a:rPr/>
              <a:t> make </a:t>
            </a:r>
            <a:r>
              <a:rPr>
                <a:latin typeface="Courier"/>
              </a:rPr>
              <a:t>perfmap</a:t>
            </a:r>
            <a:r>
              <a:rPr/>
              <a:t> more impressive without making it fake.</a:t>
            </a:r>
          </a:p>
          <a:p>
            <a:pPr lvl="0"/>
            <a:r>
              <a:rPr/>
              <a:t>Improve a metric</a:t>
            </a:r>
          </a:p>
          <a:p>
            <a:pPr lvl="0"/>
            <a:r>
              <a:rPr/>
              <a:t>Add tooling or observability</a:t>
            </a:r>
          </a:p>
          <a:p>
            <a:pPr lvl="0"/>
            <a:r>
              <a:rPr/>
              <a:t>Adapt it to a real workload</a:t>
            </a:r>
          </a:p>
          <a:p>
            <a:pPr lvl="0"/>
            <a:r>
              <a:rPr/>
              <a:t>Write a README that explains the design trade-offs</a:t>
            </a:r>
          </a:p>
          <a:p>
            <a:pPr lvl="0" indent="0" marL="0">
              <a:buNone/>
            </a:pPr>
            <a:r>
              <a:rPr b="1"/>
              <a:t>Judging criteria:</a:t>
            </a:r>
            <a:r>
              <a:rPr/>
              <a:t> measurable improvement, explanation quality, code quality, and realism.</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For The Guests</a:t>
            </a:r>
          </a:p>
        </p:txBody>
      </p:sp>
      <p:sp>
        <p:nvSpPr>
          <p:cNvPr id="3" name="Content Placeholder 2"/>
          <p:cNvSpPr>
            <a:spLocks noGrp="1"/>
          </p:cNvSpPr>
          <p:nvPr>
            <p:ph idx="1"/>
          </p:nvPr>
        </p:nvSpPr>
        <p:spPr/>
        <p:txBody>
          <a:bodyPr/>
          <a:lstStyle/>
          <a:p>
            <a:pPr lvl="0"/>
            <a:r>
              <a:rPr/>
              <a:t>What makes a student project feel real instead of inflated?</a:t>
            </a:r>
          </a:p>
          <a:p>
            <a:pPr lvl="0"/>
            <a:r>
              <a:rPr/>
              <a:t>How much does performance work matter on real teams?</a:t>
            </a:r>
          </a:p>
          <a:p>
            <a:pPr lvl="0"/>
            <a:r>
              <a:rPr/>
              <a:t>What is the best way to talk about benchmarks in interviews?</a:t>
            </a:r>
          </a:p>
          <a:p>
            <a:pPr lvl="0"/>
            <a:r>
              <a:rPr/>
              <a:t>Which extension track would they personally pick next?</a:t>
            </a:r>
          </a:p>
          <a:p>
            <a:pPr lvl="0" indent="0" marL="0">
              <a:buNone/>
            </a:pPr>
            <a:r>
              <a:rPr b="1"/>
              <a:t>Closing line:</a:t>
            </a:r>
            <a:r>
              <a:rPr/>
              <a:t> the point is not to build a hash map forever; the point is to learn how to make technical work measurable and explainable.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PerfMap</dc:title>
  <dc:creator>Diar Shakimov | SFU GDSC</dc:creator>
  <cp:keywords/>
  <dcterms:created xsi:type="dcterms:W3CDTF">2026-03-24T04:31:41Z</dcterms:created>
  <dcterms:modified xsi:type="dcterms:W3CDTF">2026-03-24T04:31:41Z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March 10, 2026</vt:lpwstr>
  </property>
  <property fmtid="{D5CDD505-2E9C-101B-9397-08002B2CF9AE}" pid="3" name="subtitle">
    <vt:lpwstr>A Google-Style C++ Performance Workshop</vt:lpwstr>
  </property>
</Properties>
</file>