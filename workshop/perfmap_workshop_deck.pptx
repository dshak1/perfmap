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notesMaster" Target="notesMasters/notesMaster1.xml" /><Relationship Id="rId24" Type="http://schemas.openxmlformats.org/officeDocument/2006/relationships/viewProps" Target="viewProps.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hard and fast. Tell them this is not a toy “we coded a hashmap from scratch” talk. The point is to show how a small systems project becomes resume-grade when it has measurement, iteration, and a believable use case.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your first candy slide. Ask for hands, then cold-call one or two short answers. If someone says “real users,” “benchmarks,” “trade-offs,” or “depth,” reward that immediately because it sets up the rest of the talk.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comes straight from your raw </a:t>
            </a:r>
            <a:r>
              <a:rPr>
                <a:latin typeface="Courier"/>
              </a:rPr>
              <a:t>IDEAS.md</a:t>
            </a:r>
            <a:r>
              <a:rPr/>
              <a:t>. Frame the modern bar clearly: the differentiator is not “I shipped code.” The differentiator is “I can explain why this design exists, what I tried, what failed, and what the numbers say.”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sound bitter here. The point is not to shame simple projects. The point is to explain why reviewers default to skepticism when they see familiar project shapes with no evidence behind them.</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you can briefly tell the “find real opportunities” story. Keep it practical: clubs, professors, labs, startup work, hackathons, and personal pain are all credible project sources because they come with constraints.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explicitly that the project works because it is narrow. It is one data structure, but it opens the door to systems thinking, benchmark rigor, and resume storytelling.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drown them in syntax yet. The important message is that memory layout is the main character, not the data structure name.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“Why might the flat array beat a chained map even if both are O(1) on paper?” Wait for someone to say cache locality or pointer chasing. This is another candy moment.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helps you avoid the “one benchmark wonder” criticism. The repo is not just one container; it is a small lab for workload-aware design.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the room what would make a performance claim feel fake. Then show that fairness rules are part of the engineering, not presentation polish. This is where you define regression tracking, benchmark harnessing, and honest methodology in simple language.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exact numbers from the March 31, 2026 spot check. Say them slowly. Then immediately say the broader large-value case still loses badly to Abseil on misses and still loses on hits too. That honesty is what makes the win worth listening to.</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real-world scenario you were asking for in </a:t>
            </a:r>
            <a:r>
              <a:rPr>
                <a:latin typeface="Courier"/>
              </a:rPr>
              <a:t>IDEAS.md</a:t>
            </a:r>
            <a:r>
              <a:rPr/>
              <a:t>. High level: “temporary cache for one batch.” Technical level: “large values plus repeated rebuilds, so O(1) clear and indirect storage matter.” That makes the niche understandable without sounding fake.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 two-space-indent joke once and move on. The real point is team-readable C++, not style cosplay. Tie </a:t>
            </a:r>
            <a:r>
              <a:rPr>
                <a:latin typeface="Courier"/>
              </a:rPr>
              <a:t>StatusOr</a:t>
            </a:r>
            <a:r>
              <a:rPr/>
              <a:t>, tests, and file organization back to “production-minded code.”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you slow down and teach. The two best demo moments are: 1. a tombstone preserving the probe chain 2. a tiny API decision changing benchmark behavior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lets you branch by audience interest. If the room is cloud-heavy, talk CI and Graviton. If the room is ML-heavy, talk feature-serving metadata caches. If the room is systems-heavy, talk Robin Hood hashing and metadata bytes.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Tell them you are giving them the “workshop version,” not the full polished repo. That starter is intentionally incomplete so they get to build the important ideas themselves.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strong place to mention follow-up prizes, shout-outs, GitHub stars, or post-workshop submissions if you want. Keep the judging criteria concrete so nobody mistakes “more features” for “better engineering.”</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by bringing the audience back into the conversation. The closing line should be some version of: “The point is not to build a hash map forever. The point is to learn how to do technical work that is measurable, explainable, and hard to fake.”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2.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PerfMap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 Google-Style C++ Performance Workshop</a:t>
            </a:r>
            <a:br/>
            <a:br/>
            <a:r>
              <a:rPr/>
              <a:t>Diar Shakimov | SFU GDSC</a:t>
            </a:r>
          </a:p>
        </p:txBody>
      </p:sp>
      <p:sp>
        <p:nvSpPr>
          <p:cNvPr id="4" name="Date Placeholder 3"/>
          <p:cNvSpPr>
            <a:spLocks noGrp="1"/>
          </p:cNvSpPr>
          <p:nvPr>
            <p:ph idx="10" sz="half" type="dt"/>
          </p:nvPr>
        </p:nvSpPr>
        <p:spPr/>
        <p:txBody>
          <a:bodyPr/>
          <a:lstStyle/>
          <a:p>
            <a:pPr lvl="0" indent="0" marL="0">
              <a:buNone/>
            </a:pPr>
            <a:r>
              <a:rPr/>
              <a:t>March 31,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One-Line Pitch</a:t>
            </a:r>
          </a:p>
        </p:txBody>
      </p:sp>
      <p:sp>
        <p:nvSpPr>
          <p:cNvPr id="3" name="Content Placeholder 2"/>
          <p:cNvSpPr>
            <a:spLocks noGrp="1"/>
          </p:cNvSpPr>
          <p:nvPr>
            <p:ph idx="1"/>
          </p:nvPr>
        </p:nvSpPr>
        <p:spPr/>
        <p:txBody>
          <a:bodyPr/>
          <a:lstStyle/>
          <a:p>
            <a:pPr lvl="0" indent="0" marL="0">
              <a:buNone/>
            </a:pPr>
            <a:r>
              <a:rPr/>
              <a:t>Build a custom hash map, measure it honestly, and leave with a project you can actually defend.</a:t>
            </a:r>
          </a:p>
          <a:p>
            <a:pPr lvl="0"/>
            <a:r>
              <a:rPr/>
              <a:t>Real workload story</a:t>
            </a:r>
          </a:p>
          <a:p>
            <a:pPr lvl="0"/>
            <a:r>
              <a:rPr/>
              <a:t>Real benchmark numbers</a:t>
            </a:r>
          </a:p>
          <a:p>
            <a:pPr lvl="0"/>
            <a:r>
              <a:rPr/>
              <a:t>Real trade-offs, not fake perfection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Quick Room Check</a:t>
            </a:r>
          </a:p>
        </p:txBody>
      </p:sp>
      <p:sp>
        <p:nvSpPr>
          <p:cNvPr id="3" name="Content Placeholder 2"/>
          <p:cNvSpPr>
            <a:spLocks noGrp="1"/>
          </p:cNvSpPr>
          <p:nvPr>
            <p:ph idx="1"/>
          </p:nvPr>
        </p:nvSpPr>
        <p:spPr/>
        <p:txBody>
          <a:bodyPr/>
          <a:lstStyle/>
          <a:p>
            <a:pPr lvl="0"/>
            <a:r>
              <a:rPr/>
              <a:t>Who here has coded in </a:t>
            </a:r>
            <a:r>
              <a:rPr>
                <a:latin typeface="Courier"/>
              </a:rPr>
              <a:t>C++</a:t>
            </a:r>
            <a:r>
              <a:rPr/>
              <a:t>?</a:t>
            </a:r>
          </a:p>
          <a:p>
            <a:pPr lvl="0"/>
            <a:r>
              <a:rPr/>
              <a:t>Who has used a hash map without knowing how it works underneath?</a:t>
            </a:r>
          </a:p>
          <a:p>
            <a:pPr lvl="0"/>
            <a:r>
              <a:rPr/>
              <a:t>What makes a project feel impressive in 2026?</a:t>
            </a:r>
          </a:p>
          <a:p>
            <a:pPr lvl="0"/>
            <a:r>
              <a:rPr/>
              <a:t>What makes a project feel tutorial-tier?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Makes A Project Stand Out In 2026</a:t>
            </a:r>
          </a:p>
        </p:txBody>
      </p:sp>
      <p:sp>
        <p:nvSpPr>
          <p:cNvPr id="3" name="Content Placeholder 2"/>
          <p:cNvSpPr>
            <a:spLocks noGrp="1"/>
          </p:cNvSpPr>
          <p:nvPr>
            <p:ph idx="1"/>
          </p:nvPr>
        </p:nvSpPr>
        <p:spPr/>
        <p:txBody>
          <a:bodyPr/>
          <a:lstStyle/>
          <a:p>
            <a:pPr lvl="0"/>
            <a:r>
              <a:rPr/>
              <a:t>It solves a real problem or models a believable workload</a:t>
            </a:r>
          </a:p>
          <a:p>
            <a:pPr lvl="0"/>
            <a:r>
              <a:rPr/>
              <a:t>It shows iteration, not just one lucky final result</a:t>
            </a:r>
          </a:p>
          <a:p>
            <a:pPr lvl="0"/>
            <a:r>
              <a:rPr/>
              <a:t>It has measurable evidence</a:t>
            </a:r>
          </a:p>
          <a:p>
            <a:pPr lvl="0"/>
            <a:r>
              <a:rPr/>
              <a:t>It uses AI intentionally, not invisibly</a:t>
            </a:r>
          </a:p>
          <a:p>
            <a:pPr lvl="0"/>
            <a:r>
              <a:rPr/>
              <a:t>It is specific enough that you can explain the hard parts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Makes A Project Feel Tutorial-Tier</a:t>
            </a:r>
          </a:p>
        </p:txBody>
      </p:sp>
      <p:sp>
        <p:nvSpPr>
          <p:cNvPr id="3" name="Content Placeholder 2"/>
          <p:cNvSpPr>
            <a:spLocks noGrp="1"/>
          </p:cNvSpPr>
          <p:nvPr>
            <p:ph idx="1"/>
          </p:nvPr>
        </p:nvSpPr>
        <p:spPr/>
        <p:txBody>
          <a:bodyPr/>
          <a:lstStyle/>
          <a:p>
            <a:pPr lvl="0"/>
            <a:r>
              <a:rPr/>
              <a:t>Generic CRUD with no real constraints</a:t>
            </a:r>
          </a:p>
          <a:p>
            <a:pPr lvl="0"/>
            <a:r>
              <a:rPr/>
              <a:t>No metrics, no benchmarks, no users, no feedback loop</a:t>
            </a:r>
          </a:p>
          <a:p>
            <a:pPr lvl="0"/>
            <a:r>
              <a:rPr/>
              <a:t>No honest loss or trade-off anywhere</a:t>
            </a:r>
          </a:p>
          <a:p>
            <a:pPr lvl="0"/>
            <a:r>
              <a:rPr/>
              <a:t>AI did the whole thing and you cannot explain the decisions</a:t>
            </a:r>
          </a:p>
          <a:p>
            <a:pPr lvl="0"/>
            <a:r>
              <a:rPr/>
              <a:t>Surface area everywhere, depth nowhere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Good Project Ideas Usually Come From</a:t>
            </a:r>
          </a:p>
        </p:txBody>
      </p:sp>
      <p:sp>
        <p:nvSpPr>
          <p:cNvPr id="3" name="Content Placeholder 2"/>
          <p:cNvSpPr>
            <a:spLocks noGrp="1"/>
          </p:cNvSpPr>
          <p:nvPr>
            <p:ph idx="1"/>
          </p:nvPr>
        </p:nvSpPr>
        <p:spPr/>
        <p:txBody>
          <a:bodyPr/>
          <a:lstStyle/>
          <a:p>
            <a:pPr lvl="0"/>
            <a:r>
              <a:rPr/>
              <a:t>coursework where you go beyond the assignment</a:t>
            </a:r>
          </a:p>
          <a:p>
            <a:pPr lvl="0"/>
            <a:r>
              <a:rPr/>
              <a:t>labs, research groups, startups, and hackathons</a:t>
            </a:r>
          </a:p>
          <a:p>
            <a:pPr lvl="0"/>
            <a:r>
              <a:rPr/>
              <a:t>repeated pain points you actually felt yourself</a:t>
            </a:r>
          </a:p>
          <a:p>
            <a:pPr lvl="0"/>
            <a:r>
              <a:rPr/>
              <a:t>niches with real constraints: latency, memory, scale, correctness</a:t>
            </a:r>
          </a:p>
          <a:p>
            <a:pPr lvl="0"/>
            <a:r>
              <a:rPr/>
              <a:t>follow-on iterations after a first version already works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PerfMap Is A Good Workshop Project</a:t>
            </a:r>
          </a:p>
        </p:txBody>
      </p:sp>
      <p:sp>
        <p:nvSpPr>
          <p:cNvPr id="3" name="Content Placeholder 2"/>
          <p:cNvSpPr>
            <a:spLocks noGrp="1"/>
          </p:cNvSpPr>
          <p:nvPr>
            <p:ph idx="1"/>
          </p:nvPr>
        </p:nvSpPr>
        <p:spPr/>
        <p:txBody>
          <a:bodyPr/>
          <a:lstStyle/>
          <a:p>
            <a:pPr lvl="0"/>
            <a:r>
              <a:rPr/>
              <a:t>small enough to understand in one session</a:t>
            </a:r>
          </a:p>
          <a:p>
            <a:pPr lvl="0"/>
            <a:r>
              <a:rPr/>
              <a:t>deep enough to talk about caches, memory layout, and trade-offs</a:t>
            </a:r>
          </a:p>
          <a:p>
            <a:pPr lvl="0"/>
            <a:r>
              <a:rPr/>
              <a:t>benchmarkable with one command</a:t>
            </a:r>
          </a:p>
          <a:p>
            <a:pPr lvl="0"/>
            <a:r>
              <a:rPr/>
              <a:t>easy to extend toward cloud, ML infra, or advanced C++</a:t>
            </a:r>
          </a:p>
          <a:p>
            <a:pPr lvl="0"/>
            <a:r>
              <a:rPr/>
              <a:t>strong because it includes both wins and losses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PerfMap Actually Is</a:t>
            </a:r>
          </a:p>
        </p:txBody>
      </p:sp>
      <p:sp>
        <p:nvSpPr>
          <p:cNvPr id="3" name="Content Placeholder 2"/>
          <p:cNvSpPr>
            <a:spLocks noGrp="1"/>
          </p:cNvSpPr>
          <p:nvPr>
            <p:ph idx="1"/>
          </p:nvPr>
        </p:nvSpPr>
        <p:spPr/>
        <p:txBody>
          <a:bodyPr/>
          <a:lstStyle/>
          <a:p>
            <a:pPr lvl="0"/>
            <a:r>
              <a:rPr/>
              <a:t>open-addressing hash map in </a:t>
            </a:r>
            <a:r>
              <a:rPr>
                <a:latin typeface="Courier"/>
              </a:rPr>
              <a:t>C++17</a:t>
            </a:r>
          </a:p>
          <a:p>
            <a:pPr lvl="0"/>
            <a:r>
              <a:rPr/>
              <a:t>flat </a:t>
            </a:r>
            <a:r>
              <a:rPr>
                <a:latin typeface="Courier"/>
              </a:rPr>
              <a:t>std::vector&lt;Slot&gt;</a:t>
            </a:r>
            <a:r>
              <a:rPr/>
              <a:t> storage</a:t>
            </a:r>
          </a:p>
          <a:p>
            <a:pPr lvl="0"/>
            <a:r>
              <a:rPr/>
              <a:t>linear probing and tombstone-aware deletion</a:t>
            </a:r>
          </a:p>
          <a:p>
            <a:pPr lvl="0"/>
            <a:r>
              <a:rPr/>
              <a:t>power-of-two capacity and bitmask indexing</a:t>
            </a:r>
          </a:p>
          <a:p>
            <a:pPr lvl="0"/>
            <a:r>
              <a:rPr>
                <a:latin typeface="Courier"/>
              </a:rPr>
              <a:t>absl::Status</a:t>
            </a:r>
            <a:r>
              <a:rPr/>
              <a:t> / </a:t>
            </a:r>
            <a:r>
              <a:rPr>
                <a:latin typeface="Courier"/>
              </a:rPr>
              <a:t>absl::StatusOr</a:t>
            </a:r>
            <a:r>
              <a:rPr/>
              <a:t> plus </a:t>
            </a:r>
            <a:r>
              <a:rPr>
                <a:latin typeface="Courier"/>
              </a:rPr>
              <a:t>FindPtr()</a:t>
            </a:r>
            <a:r>
              <a:rPr/>
              <a:t> for hot paths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Flat Storage Can Win</a:t>
            </a:r>
          </a:p>
        </p:txBody>
      </p:sp>
      <p:pic>
        <p:nvPicPr>
          <p:cNvPr descr="assets/memory_layout.png" id="0" name="Picture 1"/>
          <p:cNvPicPr>
            <a:picLocks noGrp="1" noChangeAspect="1"/>
          </p:cNvPicPr>
          <p:nvPr/>
        </p:nvPicPr>
        <p:blipFill>
          <a:blip r:embed="rId2"/>
          <a:stretch>
            <a:fillRect/>
          </a:stretch>
        </p:blipFill>
        <p:spPr bwMode="auto">
          <a:xfrm>
            <a:off x="1587500" y="1193800"/>
            <a:ext cx="59690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fewer pointer jumps</a:t>
            </a:r>
          </a:p>
          <a:p>
            <a:pPr lvl="0"/>
            <a:r>
              <a:rPr/>
              <a:t>more contiguous memory access</a:t>
            </a:r>
          </a:p>
          <a:p>
            <a:pPr lvl="0"/>
            <a:r>
              <a:rPr/>
              <a:t>easier hardware prefetch behavior</a:t>
            </a:r>
          </a:p>
          <a:p>
            <a:pPr lvl="0"/>
            <a:r>
              <a:rPr/>
              <a:t>cleaner benchmark story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One Repo, Multiple Workloads</a:t>
            </a:r>
          </a:p>
        </p:txBody>
      </p:sp>
      <p:sp>
        <p:nvSpPr>
          <p:cNvPr id="3" name="Content Placeholder 2"/>
          <p:cNvSpPr>
            <a:spLocks noGrp="1"/>
          </p:cNvSpPr>
          <p:nvPr>
            <p:ph idx="1"/>
          </p:nvPr>
        </p:nvSpPr>
        <p:spPr/>
        <p:txBody>
          <a:bodyPr/>
          <a:lstStyle/>
          <a:p>
            <a:pPr lvl="0"/>
            <a:r>
              <a:rPr>
                <a:latin typeface="Courier"/>
              </a:rPr>
              <a:t>HashMap</a:t>
            </a:r>
            <a:r>
              <a:rPr/>
              <a:t>: balanced baseline</a:t>
            </a:r>
          </a:p>
          <a:p>
            <a:pPr lvl="0"/>
            <a:r>
              <a:rPr>
                <a:latin typeface="Courier"/>
              </a:rPr>
              <a:t>ReadHeavyHashMap</a:t>
            </a:r>
            <a:r>
              <a:rPr/>
              <a:t>: lower load factor for faster lookups</a:t>
            </a:r>
          </a:p>
          <a:p>
            <a:pPr lvl="0"/>
            <a:r>
              <a:rPr>
                <a:latin typeface="Courier"/>
              </a:rPr>
              <a:t>ChurnHeavyHashMap</a:t>
            </a:r>
            <a:r>
              <a:rPr/>
              <a:t>: more aggressive tombstone cleanup</a:t>
            </a:r>
          </a:p>
          <a:p>
            <a:pPr lvl="0"/>
            <a:r>
              <a:rPr>
                <a:latin typeface="Courier"/>
              </a:rPr>
              <a:t>SpaceEfficientHashMap</a:t>
            </a:r>
            <a:r>
              <a:rPr/>
              <a:t>: tighter memory budget</a:t>
            </a:r>
          </a:p>
          <a:p>
            <a:pPr lvl="0"/>
            <a:r>
              <a:rPr>
                <a:latin typeface="Courier"/>
              </a:rPr>
              <a:t>IndirectHashMap</a:t>
            </a:r>
            <a:r>
              <a:rPr/>
              <a:t>: better for large payloads</a:t>
            </a:r>
          </a:p>
          <a:p>
            <a:pPr lvl="0"/>
            <a:r>
              <a:rPr>
                <a:latin typeface="Courier"/>
              </a:rPr>
              <a:t>Scratch*</a:t>
            </a:r>
            <a:r>
              <a:rPr/>
              <a:t> variants: built for repeated clear-and-rebuild cycles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Benchmark Rules</a:t>
            </a:r>
          </a:p>
        </p:txBody>
      </p:sp>
      <p:sp>
        <p:nvSpPr>
          <p:cNvPr id="3" name="Content Placeholder 2"/>
          <p:cNvSpPr>
            <a:spLocks noGrp="1"/>
          </p:cNvSpPr>
          <p:nvPr>
            <p:ph idx="1"/>
          </p:nvPr>
        </p:nvSpPr>
        <p:spPr/>
        <p:txBody>
          <a:bodyPr/>
          <a:lstStyle/>
          <a:p>
            <a:pPr lvl="0"/>
            <a:r>
              <a:rPr/>
              <a:t>same deterministic key sets for every implementation</a:t>
            </a:r>
          </a:p>
          <a:p>
            <a:pPr lvl="0"/>
            <a:r>
              <a:rPr/>
              <a:t>same adapter contract for STL, Abseil, and PerfMap</a:t>
            </a:r>
          </a:p>
          <a:p>
            <a:pPr lvl="0"/>
            <a:r>
              <a:rPr/>
              <a:t>setup excluded from steady-state lookup and erase timing</a:t>
            </a:r>
          </a:p>
          <a:p>
            <a:pPr lvl="0"/>
            <a:r>
              <a:rPr/>
              <a:t>reserved benchmarks pre-size every container fairly</a:t>
            </a:r>
          </a:p>
          <a:p>
            <a:pPr lvl="0"/>
            <a:r>
              <a:rPr/>
              <a:t>separate “where we lose” benchmarks kept in the repo on purpose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Honest Result</a:t>
            </a:r>
          </a:p>
        </p:txBody>
      </p:sp>
      <p:sp>
        <p:nvSpPr>
          <p:cNvPr id="3" name="Content Placeholder 2"/>
          <p:cNvSpPr>
            <a:spLocks noGrp="1"/>
          </p:cNvSpPr>
          <p:nvPr>
            <p:ph idx="1"/>
          </p:nvPr>
        </p:nvSpPr>
        <p:spPr/>
        <p:txBody>
          <a:bodyPr/>
          <a:lstStyle/>
          <a:p>
            <a:pPr lvl="0"/>
            <a:r>
              <a:rPr>
                <a:latin typeface="Courier"/>
              </a:rPr>
              <a:t>perfmap::ScratchIndirectHashMap</a:t>
            </a:r>
            <a:r>
              <a:rPr/>
              <a:t> is the strongest real win</a:t>
            </a:r>
          </a:p>
          <a:p>
            <a:pPr lvl="0"/>
            <a:r>
              <a:rPr/>
              <a:t>at </a:t>
            </a:r>
            <a:r>
              <a:rPr>
                <a:latin typeface="Courier"/>
              </a:rPr>
              <a:t>16,384</a:t>
            </a:r>
            <a:r>
              <a:rPr/>
              <a:t> entries it runs around </a:t>
            </a:r>
            <a:r>
              <a:rPr>
                <a:latin typeface="Courier"/>
              </a:rPr>
              <a:t>53.0M items/s</a:t>
            </a:r>
          </a:p>
          <a:p>
            <a:pPr lvl="0"/>
            <a:r>
              <a:rPr/>
              <a:t>that is about </a:t>
            </a:r>
            <a:r>
              <a:rPr>
                <a:latin typeface="Courier"/>
              </a:rPr>
              <a:t>7.3x</a:t>
            </a:r>
            <a:r>
              <a:rPr/>
              <a:t> faster than </a:t>
            </a:r>
            <a:r>
              <a:rPr>
                <a:latin typeface="Courier"/>
              </a:rPr>
              <a:t>std::unordered_map</a:t>
            </a:r>
          </a:p>
          <a:p>
            <a:pPr lvl="0"/>
            <a:r>
              <a:rPr>
                <a:latin typeface="Courier"/>
              </a:rPr>
              <a:t>absl::flat_hash_map</a:t>
            </a:r>
            <a:r>
              <a:rPr/>
              <a:t> still wins broad large-value lookup</a:t>
            </a:r>
          </a:p>
          <a:p>
            <a:pPr lvl="0"/>
            <a:r>
              <a:rPr/>
              <a:t>the honest loss is part of why the repo is credible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Winning Workload Story</a:t>
            </a:r>
          </a:p>
        </p:txBody>
      </p:sp>
      <p:sp>
        <p:nvSpPr>
          <p:cNvPr id="3" name="Content Placeholder 2"/>
          <p:cNvSpPr>
            <a:spLocks noGrp="1"/>
          </p:cNvSpPr>
          <p:nvPr>
            <p:ph idx="1"/>
          </p:nvPr>
        </p:nvSpPr>
        <p:spPr/>
        <p:txBody>
          <a:bodyPr/>
          <a:lstStyle/>
          <a:p>
            <a:pPr lvl="0"/>
            <a:r>
              <a:rPr/>
              <a:t>think: per-batch document enrichment cache</a:t>
            </a:r>
          </a:p>
          <a:p>
            <a:pPr lvl="0"/>
            <a:r>
              <a:rPr/>
              <a:t>each batch contains many records and large metadata blobs</a:t>
            </a:r>
          </a:p>
          <a:p>
            <a:pPr lvl="0"/>
            <a:r>
              <a:rPr/>
              <a:t>build a temporary lookup structure for that batch</a:t>
            </a:r>
          </a:p>
          <a:p>
            <a:pPr lvl="0"/>
            <a:r>
              <a:rPr/>
              <a:t>query it hard during the batch</a:t>
            </a:r>
          </a:p>
          <a:p>
            <a:pPr lvl="0"/>
            <a:r>
              <a:rPr/>
              <a:t>clear it and rebuild for the next batch</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Google-Style C++ Matters Here</a:t>
            </a:r>
          </a:p>
        </p:txBody>
      </p:sp>
      <p:sp>
        <p:nvSpPr>
          <p:cNvPr id="3" name="Content Placeholder 2"/>
          <p:cNvSpPr>
            <a:spLocks noGrp="1"/>
          </p:cNvSpPr>
          <p:nvPr>
            <p:ph idx="1"/>
          </p:nvPr>
        </p:nvSpPr>
        <p:spPr/>
        <p:txBody>
          <a:bodyPr/>
          <a:lstStyle/>
          <a:p>
            <a:pPr lvl="0"/>
            <a:r>
              <a:rPr/>
              <a:t>explicit error handling</a:t>
            </a:r>
          </a:p>
          <a:p>
            <a:pPr lvl="0"/>
            <a:r>
              <a:rPr/>
              <a:t>boring naming and formatting</a:t>
            </a:r>
          </a:p>
          <a:p>
            <a:pPr lvl="0"/>
            <a:r>
              <a:rPr/>
              <a:t>correctness before optimization</a:t>
            </a:r>
          </a:p>
          <a:p>
            <a:pPr lvl="0"/>
            <a:r>
              <a:rPr/>
              <a:t>benchmark after the code is defensible</a:t>
            </a:r>
          </a:p>
          <a:p>
            <a:pPr lvl="0"/>
            <a:r>
              <a:rPr/>
              <a:t>code another engineer can read at </a:t>
            </a:r>
            <a:r>
              <a:rPr>
                <a:latin typeface="Courier"/>
              </a:rPr>
              <a:t>2 a.m.</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Live Demo Plan</a:t>
            </a:r>
          </a:p>
        </p:txBody>
      </p:sp>
      <p:sp>
        <p:nvSpPr>
          <p:cNvPr id="3" name="Content Placeholder 2"/>
          <p:cNvSpPr>
            <a:spLocks noGrp="1"/>
          </p:cNvSpPr>
          <p:nvPr>
            <p:ph idx="1"/>
          </p:nvPr>
        </p:nvSpPr>
        <p:spPr/>
        <p:txBody>
          <a:bodyPr/>
          <a:lstStyle/>
          <a:p>
            <a:pPr lvl="0" indent="0">
              <a:buNone/>
            </a:pPr>
            <a:r>
              <a:rPr>
                <a:solidFill>
                  <a:srgbClr val="008000"/>
                </a:solidFill>
                <a:latin typeface="Courier"/>
              </a:rPr>
              <a:t>cd</a:t>
            </a:r>
            <a:r>
              <a:rPr>
                <a:latin typeface="Courier"/>
              </a:rPr>
              <a:t> project/perfmap/build</a:t>
            </a:r>
            <a:br/>
            <a:r>
              <a:rPr>
                <a:solidFill>
                  <a:srgbClr val="06287E"/>
                </a:solidFill>
                <a:latin typeface="Courier"/>
              </a:rPr>
              <a:t>cmake</a:t>
            </a:r>
            <a:r>
              <a:rPr>
                <a:latin typeface="Courier"/>
              </a:rPr>
              <a:t> .. </a:t>
            </a:r>
            <a:r>
              <a:rPr>
                <a:solidFill>
                  <a:srgbClr val="7D9029"/>
                </a:solidFill>
                <a:latin typeface="Courier"/>
              </a:rPr>
              <a:t>-DCMAKE_BUILD_TYPE</a:t>
            </a:r>
            <a:r>
              <a:rPr>
                <a:solidFill>
                  <a:srgbClr val="666666"/>
                </a:solidFill>
                <a:latin typeface="Courier"/>
              </a:rPr>
              <a:t>=</a:t>
            </a:r>
            <a:r>
              <a:rPr>
                <a:latin typeface="Courier"/>
              </a:rPr>
              <a:t>Release</a:t>
            </a:r>
            <a:br/>
            <a:r>
              <a:rPr>
                <a:solidFill>
                  <a:srgbClr val="06287E"/>
                </a:solidFill>
                <a:latin typeface="Courier"/>
              </a:rPr>
              <a:t>make</a:t>
            </a:r>
            <a:r>
              <a:rPr>
                <a:latin typeface="Courier"/>
              </a:rPr>
              <a:t> </a:t>
            </a:r>
            <a:r>
              <a:rPr>
                <a:solidFill>
                  <a:srgbClr val="7D9029"/>
                </a:solidFill>
                <a:latin typeface="Courier"/>
              </a:rPr>
              <a:t>-j8</a:t>
            </a:r>
            <a:br/>
            <a:r>
              <a:rPr>
                <a:latin typeface="Courier"/>
              </a:rPr>
              <a:t>./perfmap_tests</a:t>
            </a:r>
            <a:br/>
            <a:r>
              <a:rPr>
                <a:latin typeface="Courier"/>
              </a:rPr>
              <a:t>./perfmap_bench</a:t>
            </a:r>
          </a:p>
          <a:p>
            <a:pPr lvl="0"/>
            <a:r>
              <a:rPr/>
              <a:t>show </a:t>
            </a:r>
            <a:r>
              <a:rPr>
                <a:latin typeface="Courier"/>
              </a:rPr>
              <a:t>slot.h</a:t>
            </a:r>
            <a:r>
              <a:rPr/>
              <a:t>, </a:t>
            </a:r>
            <a:r>
              <a:rPr>
                <a:latin typeface="Courier"/>
              </a:rPr>
              <a:t>hash_map.h</a:t>
            </a:r>
            <a:r>
              <a:rPr/>
              <a:t>, tests, and benchmark harness</a:t>
            </a:r>
          </a:p>
          <a:p>
            <a:pPr lvl="0"/>
            <a:r>
              <a:rPr/>
              <a:t>ask why tombstones exist before revealing the answer</a:t>
            </a:r>
          </a:p>
          <a:p>
            <a:pPr lvl="0"/>
            <a:r>
              <a:rPr/>
              <a:t>ask why </a:t>
            </a:r>
            <a:r>
              <a:rPr>
                <a:latin typeface="Courier"/>
              </a:rPr>
              <a:t>FindPtr()</a:t>
            </a:r>
            <a:r>
              <a:rPr/>
              <a:t> exists before showing the miss-path cost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Students Can Build Next</a:t>
            </a:r>
          </a:p>
        </p:txBody>
      </p:sp>
      <p:pic>
        <p:nvPicPr>
          <p:cNvPr descr="assets/extension_tracks.png" id="0" name="Picture 1"/>
          <p:cNvPicPr>
            <a:picLocks noGrp="1" noChangeAspect="1"/>
          </p:cNvPicPr>
          <p:nvPr/>
        </p:nvPicPr>
        <p:blipFill>
          <a:blip r:embed="rId3"/>
          <a:stretch>
            <a:fillRect/>
          </a:stretch>
        </p:blipFill>
        <p:spPr bwMode="auto">
          <a:xfrm>
            <a:off x="1587500" y="1193800"/>
            <a:ext cx="59690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Starter Repo For Attendees</a:t>
            </a:r>
          </a:p>
        </p:txBody>
      </p:sp>
      <p:sp>
        <p:nvSpPr>
          <p:cNvPr id="3" name="Content Placeholder 2"/>
          <p:cNvSpPr>
            <a:spLocks noGrp="1"/>
          </p:cNvSpPr>
          <p:nvPr>
            <p:ph idx="1"/>
          </p:nvPr>
        </p:nvSpPr>
        <p:spPr/>
        <p:txBody>
          <a:bodyPr/>
          <a:lstStyle/>
          <a:p>
            <a:pPr lvl="0"/>
            <a:r>
              <a:rPr/>
              <a:t>clone the incomplete starter from </a:t>
            </a:r>
            <a:r>
              <a:rPr>
                <a:latin typeface="Courier"/>
              </a:rPr>
              <a:t>starter/perfmap-10d</a:t>
            </a:r>
          </a:p>
          <a:p>
            <a:pPr lvl="0"/>
            <a:r>
              <a:rPr/>
              <a:t>fill in the core open-addressing behavior</a:t>
            </a:r>
          </a:p>
          <a:p>
            <a:pPr lvl="0"/>
            <a:r>
              <a:rPr/>
              <a:t>make the tombstone test pass</a:t>
            </a:r>
          </a:p>
          <a:p>
            <a:pPr lvl="0"/>
            <a:r>
              <a:rPr/>
              <a:t>make rehashing work</a:t>
            </a:r>
          </a:p>
          <a:p>
            <a:pPr lvl="0"/>
            <a:r>
              <a:rPr/>
              <a:t>then benchmark your version against the completed repo</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Mini Challenge</a:t>
            </a:r>
          </a:p>
        </p:txBody>
      </p:sp>
      <p:sp>
        <p:nvSpPr>
          <p:cNvPr id="3" name="Content Placeholder 2"/>
          <p:cNvSpPr>
            <a:spLocks noGrp="1"/>
          </p:cNvSpPr>
          <p:nvPr>
            <p:ph idx="1"/>
          </p:nvPr>
        </p:nvSpPr>
        <p:spPr/>
        <p:txBody>
          <a:bodyPr/>
          <a:lstStyle/>
          <a:p>
            <a:pPr lvl="0"/>
            <a:r>
              <a:rPr/>
              <a:t>improve one metric without lying about the result</a:t>
            </a:r>
          </a:p>
          <a:p>
            <a:pPr lvl="0"/>
            <a:r>
              <a:rPr/>
              <a:t>explain one design choice clearly</a:t>
            </a:r>
          </a:p>
          <a:p>
            <a:pPr lvl="0"/>
            <a:r>
              <a:rPr/>
              <a:t>document one honest loss</a:t>
            </a:r>
          </a:p>
          <a:p>
            <a:pPr lvl="0"/>
            <a:r>
              <a:rPr/>
              <a:t>add one extension only if it makes the repo more measurable or more useful</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For The Room And The Guests</a:t>
            </a:r>
          </a:p>
        </p:txBody>
      </p:sp>
      <p:sp>
        <p:nvSpPr>
          <p:cNvPr id="3" name="Content Placeholder 2"/>
          <p:cNvSpPr>
            <a:spLocks noGrp="1"/>
          </p:cNvSpPr>
          <p:nvPr>
            <p:ph idx="1"/>
          </p:nvPr>
        </p:nvSpPr>
        <p:spPr/>
        <p:txBody>
          <a:bodyPr/>
          <a:lstStyle/>
          <a:p>
            <a:pPr lvl="0"/>
            <a:r>
              <a:rPr/>
              <a:t>What do you think matters more: novelty, depth, or measurable impact?</a:t>
            </a:r>
          </a:p>
          <a:p>
            <a:pPr lvl="0"/>
            <a:r>
              <a:rPr/>
              <a:t>If you had one more week, which extension would you ship first?</a:t>
            </a:r>
          </a:p>
          <a:p>
            <a:pPr lvl="0"/>
            <a:r>
              <a:rPr/>
              <a:t>What makes a benchmark claim believable in an interview?</a:t>
            </a:r>
          </a:p>
          <a:p>
            <a:pPr lvl="0"/>
            <a:r>
              <a:rPr/>
              <a:t>What turns a student repo into something recruiters actually remember?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PerfMap</dc:title>
  <dc:creator>Diar Shakimov | SFU GDSC</dc:creator>
  <cp:keywords/>
  <dcterms:created xsi:type="dcterms:W3CDTF">2026-04-01T00:29:38Z</dcterms:created>
  <dcterms:modified xsi:type="dcterms:W3CDTF">2026-04-01T00:29:38Z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March 31, 2026</vt:lpwstr>
  </property>
  <property fmtid="{D5CDD505-2E9C-101B-9397-08002B2CF9AE}" pid="3" name="subtitle">
    <vt:lpwstr>A Google-Style C++ Performance Workshop</vt:lpwstr>
  </property>
</Properties>
</file>